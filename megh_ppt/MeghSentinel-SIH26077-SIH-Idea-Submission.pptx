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SIH26077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AI-Driven Hyper-Local Early Warning System for Severe Weather Nowcasting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Disaster Management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 (as registered on portal)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SCAPEGOATS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95000"/>
              </a:lnSpc>
              <a:spcAft>
                <a:spcPts val="800"/>
              </a:spcAft>
              <a:buFont typeface="Wingdings" panose="05000000000000000000" pitchFamily="2" charset="2"/>
              <a:buNone/>
            </a:pPr>
            <a:r>
              <a:rPr sz="1600" b="1">
                <a:solidFill>
                  <a:srgbClr val="1565C0"/>
                </a:solidFill>
                <a:latin typeface="Calibri"/>
              </a:rPr>
              <a:t>MeghSentinel - AI-Driven Hyper-Local Early Warning System for Severe Weather Nowcasting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95000"/>
              </a:lnSpc>
              <a:spcAft>
                <a:spcPts val="500"/>
              </a:spcAft>
              <a:buNone/>
            </a:pPr>
            <a:r>
              <a:rPr sz="1400" b="0">
                <a:solidFill>
                  <a:srgbClr val="212529"/>
                </a:solidFill>
                <a:latin typeface="Calibri"/>
              </a:rPr>
              <a:t>•  Problem: a cloudburst hits with almost no warning - today's weather models are too slow and too broad to see it coming for one district</a:t>
            </a:r>
          </a:p>
          <a:p>
            <a:pPr>
              <a:lnSpc>
                <a:spcPct val="95000"/>
              </a:lnSpc>
              <a:spcAft>
                <a:spcPts val="500"/>
              </a:spcAft>
              <a:buNone/>
            </a:pPr>
            <a:r>
              <a:rPr sz="1400" b="0">
                <a:solidFill>
                  <a:srgbClr val="212529"/>
                </a:solidFill>
                <a:latin typeface="Calibri"/>
              </a:rPr>
              <a:t>•  What we built: one AI model that reads satellite images and weather data and tells a district how likely a cloudburst or flash flood is, 2 to 6 hours before it happens</a:t>
            </a:r>
          </a:p>
          <a:p>
            <a:pPr>
              <a:lnSpc>
                <a:spcPct val="95000"/>
              </a:lnSpc>
              <a:spcAft>
                <a:spcPts val="500"/>
              </a:spcAft>
              <a:buNone/>
            </a:pPr>
            <a:r>
              <a:rPr sz="1400" b="0">
                <a:solidFill>
                  <a:srgbClr val="212529"/>
                </a:solidFill>
                <a:latin typeface="Calibri"/>
              </a:rPr>
              <a:t>•  How you get the warning: a live risk map that opens on any phone, plus SMS alerts to the districts in danger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3" name="Picture 15362" descr="s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68" y="316832"/>
            <a:ext cx="620066" cy="678160"/>
          </a:xfrm>
          <a:prstGeom prst="rect">
            <a:avLst/>
          </a:prstGeom>
        </p:spPr>
      </p:pic>
      <p:graphicFrame>
        <p:nvGraphicFramePr>
          <p:cNvPr id="15364" name="Table 15363"/>
          <p:cNvGraphicFramePr>
            <a:graphicFrameLocks noGrp="1"/>
          </p:cNvGraphicFramePr>
          <p:nvPr/>
        </p:nvGraphicFramePr>
        <p:xfrm>
          <a:off x="457200" y="3749039"/>
          <a:ext cx="6949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PROBLEM TODAY</a:t>
                      </a:r>
                    </a:p>
                  </a:txBody>
                  <a:tcPr anchor="ctr" marL="54864" marR="54864" marT="18288" marB="18288"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WITH MEGHSENTINEL</a:t>
                      </a:r>
                    </a:p>
                  </a:txBody>
                  <a:tcPr anchor="ctr" marL="54864" marR="54864" marT="18288" marB="18288">
                    <a:solidFill>
                      <a:srgbClr val="0D1B2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12529"/>
                          </a:solidFill>
                          <a:latin typeface="Calibri"/>
                        </a:rPr>
                        <a:t>Storms intensify within a few hours</a:t>
                      </a:r>
                    </a:p>
                  </a:txBody>
                  <a:tcPr anchor="ctr" marL="54864" marR="54864" marT="18288" marB="18288">
                    <a:solidFill>
                      <a:srgbClr val="F0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12529"/>
                          </a:solidFill>
                          <a:latin typeface="Calibri"/>
                        </a:rPr>
                        <a:t>One AI model warns 2 to 6 hours before impact</a:t>
                      </a:r>
                    </a:p>
                  </a:txBody>
                  <a:tcPr anchor="ctr" marL="54864" marR="54864" marT="18288" marB="18288">
                    <a:solidFill>
                      <a:srgbClr val="F0F4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12529"/>
                          </a:solidFill>
                          <a:latin typeface="Calibri"/>
                        </a:rPr>
                        <a:t>Weather models are too slow and too broad to see a cloudburst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12529"/>
                          </a:solidFill>
                          <a:latin typeface="Calibri"/>
                        </a:rPr>
                        <a:t>Reads satellite images directly - no waiting for model runs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12529"/>
                          </a:solidFill>
                          <a:latin typeface="Calibri"/>
                        </a:rPr>
                        <a:t>Too few ground stations, so warnings go untrusted</a:t>
                      </a:r>
                    </a:p>
                  </a:txBody>
                  <a:tcPr anchor="ctr" marL="54864" marR="54864" marT="18288" marB="18288">
                    <a:solidFill>
                      <a:srgbClr val="F0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12529"/>
                          </a:solidFill>
                          <a:latin typeface="Calibri"/>
                        </a:rPr>
                        <a:t>District-wise risk map, checked against our own field sensors</a:t>
                      </a:r>
                    </a:p>
                  </a:txBody>
                  <a:tcPr anchor="ctr" marL="54864" marR="54864" marT="18288" marB="18288">
                    <a:solidFill>
                      <a:srgbClr val="F0F4FB"/>
                    </a:solidFill>
                  </a:tcPr>
                </a:tc>
              </a:tr>
            </a:tbl>
          </a:graphicData>
        </a:graphic>
      </p:graphicFrame>
      <p:pic>
        <p:nvPicPr>
          <p:cNvPr id="15365" name="Picture 15364" descr="ui_d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3749039"/>
            <a:ext cx="3931920" cy="24597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95000"/>
              </a:lnSpc>
              <a:spcAft>
                <a:spcPts val="300"/>
              </a:spcAft>
              <a:buFont typeface="Arial" panose="020B0604020202020204" pitchFamily="34" charset="0"/>
              <a:buNone/>
            </a:pPr>
            <a:r>
              <a:rPr sz="1400" b="0">
                <a:solidFill>
                  <a:srgbClr val="212529"/>
                </a:solidFill>
                <a:latin typeface="Calibri"/>
              </a:rPr>
              <a:t>•  Inputs - free government data: IMDAA weather grids, INSAT-3D satellite images (MOSDAC) and a terrain map</a:t>
            </a:r>
          </a:p>
          <a:p>
            <a:pPr>
              <a:lnSpc>
                <a:spcPct val="95000"/>
              </a:lnSpc>
              <a:spcAft>
                <a:spcPts val="300"/>
              </a:spcAft>
              <a:buNone/>
            </a:pPr>
            <a:r>
              <a:rPr sz="1400" b="0">
                <a:solidFill>
                  <a:srgbClr val="212529"/>
                </a:solidFill>
                <a:latin typeface="Calibri"/>
              </a:rPr>
              <a:t>•  How it works - it learns from past storms: when moisture, heat and wind line up and cloud tops cool quickly, a cloudburst is on the way</a:t>
            </a:r>
          </a:p>
          <a:p>
            <a:pPr>
              <a:lnSpc>
                <a:spcPct val="95000"/>
              </a:lnSpc>
              <a:spcAft>
                <a:spcPts val="300"/>
              </a:spcAft>
              <a:buNone/>
            </a:pPr>
            <a:r>
              <a:rPr sz="1400" b="0">
                <a:solidFill>
                  <a:srgbClr val="212529"/>
                </a:solidFill>
                <a:latin typeface="Calibri"/>
              </a:rPr>
              <a:t>•  What you get - a district-wise risk map on a live dashboard plus SMS alerts, 2 to 6 hours before the rain</a:t>
            </a:r>
          </a:p>
          <a:p>
            <a:pPr>
              <a:lnSpc>
                <a:spcPct val="95000"/>
              </a:lnSpc>
              <a:spcAft>
                <a:spcPts val="300"/>
              </a:spcAft>
              <a:buNone/>
            </a:pPr>
            <a:r>
              <a:rPr sz="1400" b="0">
                <a:solidFill>
                  <a:srgbClr val="212529"/>
                </a:solidFill>
                <a:latin typeface="Calibri"/>
              </a:rPr>
              <a:t>•  Proof - our own field sensors (rain, pressure, lightning) record what really happened, so every alert can be checked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17410" descr="s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68" y="316832"/>
            <a:ext cx="620066" cy="678160"/>
          </a:xfrm>
          <a:prstGeom prst="rect">
            <a:avLst/>
          </a:prstGeom>
        </p:spPr>
      </p:pic>
      <p:pic>
        <p:nvPicPr>
          <p:cNvPr id="17412" name="Picture 17411" descr="img_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4297680"/>
            <a:ext cx="7607808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tabLst/>
              <a:buNone/>
              <a:defRPr/>
            </a:pPr>
            <a:r>
              <a:rPr sz="1400" b="0">
                <a:solidFill>
                  <a:srgbClr val="212529"/>
                </a:solidFill>
                <a:latin typeface="Calibri"/>
              </a:rPr>
              <a:t>•  Most of the system already exists - our team built and runs the dashboard, the server and the SMS alerts; only the prediction model is new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lnSpc>
                <a:spcPct val="95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212529"/>
                </a:solidFill>
                <a:latin typeface="Calibri"/>
              </a:rPr>
              <a:t>•  All the data is free - IMDAA and MOSDAC just need a free account, and the terrain maps need no key</a:t>
            </a:r>
          </a:p>
          <a:p>
            <a:pPr>
              <a:lnSpc>
                <a:spcPct val="95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212529"/>
                </a:solidFill>
                <a:latin typeface="Calibri"/>
              </a:rPr>
              <a:t>•  Plan - idea in October, data and model training in November, a working end-to-end demo in December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17410" descr="s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68" y="316832"/>
            <a:ext cx="620066" cy="678160"/>
          </a:xfrm>
          <a:prstGeom prst="rect">
            <a:avLst/>
          </a:prstGeom>
        </p:spPr>
      </p:pic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612648" y="4023360"/>
          <a:ext cx="109728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7338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anchor="ctr" marL="54864" marR="54864" marT="18288" marB="18288"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54864" marR="54864" marT="18288" marB="18288"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anchor="ctr" marL="54864" marR="54864" marT="18288" marB="18288">
                    <a:solidFill>
                      <a:srgbClr val="0D1B2A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12529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anchor="ctr" marL="54864" marR="54864" marT="18288" marB="18288">
                    <a:solidFill>
                      <a:srgbClr val="F0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Confirmed</a:t>
                      </a:r>
                    </a:p>
                  </a:txBody>
                  <a:tcPr anchor="ctr" marL="54864" marR="54864" marT="18288" marB="18288">
                    <a:solidFill>
                      <a:srgbClr val="F0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Open data from MOSDAC and IMDAA, DEM needs no key</a:t>
                      </a:r>
                    </a:p>
                  </a:txBody>
                  <a:tcPr anchor="ctr" marL="54864" marR="54864" marT="18288" marB="18288">
                    <a:solidFill>
                      <a:srgbClr val="F0F4FB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12529"/>
                          </a:solidFill>
                          <a:latin typeface="Calibri"/>
                        </a:rPr>
                        <a:t>Server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Reused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The backend service is already live and running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12529"/>
                          </a:solidFill>
                          <a:latin typeface="Calibri"/>
                        </a:rPr>
                        <a:t>Website</a:t>
                      </a:r>
                    </a:p>
                  </a:txBody>
                  <a:tcPr anchor="ctr" marL="54864" marR="54864" marT="18288" marB="18288">
                    <a:solidFill>
                      <a:srgbClr val="F0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Reused</a:t>
                      </a:r>
                    </a:p>
                  </a:txBody>
                  <a:tcPr anchor="ctr" marL="54864" marR="54864" marT="18288" marB="18288">
                    <a:solidFill>
                      <a:srgbClr val="F0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The web app installs and shows live sites</a:t>
                      </a:r>
                    </a:p>
                  </a:txBody>
                  <a:tcPr anchor="ctr" marL="54864" marR="54864" marT="18288" marB="18288">
                    <a:solidFill>
                      <a:srgbClr val="F0F4FB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12529"/>
                          </a:solidFill>
                          <a:latin typeface="Calibri"/>
                        </a:rPr>
                        <a:t>Alerts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Reused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SMS alerts already fire at set thresholds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12529"/>
                          </a:solidFill>
                          <a:latin typeface="Calibri"/>
                        </a:rPr>
                        <a:t>New work</a:t>
                      </a:r>
                    </a:p>
                  </a:txBody>
                  <a:tcPr anchor="ctr" marL="54864" marR="54864" marT="18288" marB="18288">
                    <a:solidFill>
                      <a:srgbClr val="F0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Scoped</a:t>
                      </a:r>
                    </a:p>
                  </a:txBody>
                  <a:tcPr anchor="ctr" marL="54864" marR="54864" marT="18288" marB="18288">
                    <a:solidFill>
                      <a:srgbClr val="F0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12529"/>
                          </a:solidFill>
                          <a:latin typeface="Calibri"/>
                        </a:rPr>
                        <a:t>Prediction model, map layer and node firmware</a:t>
                      </a:r>
                    </a:p>
                  </a:txBody>
                  <a:tcPr anchor="ctr" marL="54864" marR="54864" marT="18288" marB="18288">
                    <a:solidFill>
                      <a:srgbClr val="F0F4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tabLst/>
              <a:buNone/>
              <a:defRPr/>
            </a:pPr>
            <a:r>
              <a:rPr sz="1400" b="0">
                <a:solidFill>
                  <a:srgbClr val="212529"/>
                </a:solidFill>
                <a:latin typeface="Calibri"/>
              </a:rPr>
              <a:t>•  2 to 6 extra hours before a cloudburst - enough time to move people out, not just count the damage</a:t>
            </a:r>
          </a:p>
          <a:p>
            <a:pPr>
              <a:lnSpc>
                <a:spcPct val="95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212529"/>
                </a:solidFill>
                <a:latin typeface="Calibri"/>
              </a:rPr>
              <a:t>•  Warnings name the district, not the whole state, so rescue teams go where the danger actually is</a:t>
            </a:r>
          </a:p>
          <a:p>
            <a:pPr>
              <a:lnSpc>
                <a:spcPct val="95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212529"/>
                </a:solidFill>
                <a:latin typeface="Calibri"/>
              </a:rPr>
              <a:t>•  Any district can run it on free data, with no expensive licence, and it can be extended to other disasters</a:t>
            </a:r>
          </a:p>
          <a:p>
            <a:pPr>
              <a:lnSpc>
                <a:spcPct val="95000"/>
              </a:lnSpc>
              <a:spcAft>
                <a:spcPts val="400"/>
              </a:spcAft>
              <a:buNone/>
            </a:pPr>
            <a:r>
              <a:rPr sz="1400" b="0">
                <a:solidFill>
                  <a:srgbClr val="212529"/>
                </a:solidFill>
                <a:latin typeface="Calibri"/>
              </a:rPr>
              <a:t>•  A public dashboard keeps people informed while the storm is still building, not after it has hit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17410" descr="s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68" y="316832"/>
            <a:ext cx="620066" cy="678160"/>
          </a:xfrm>
          <a:prstGeom prst="rect">
            <a:avLst/>
          </a:prstGeom>
        </p:spPr>
      </p:pic>
      <p:pic>
        <p:nvPicPr>
          <p:cNvPr id="17412" name="Picture 17411" descr="img_imp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4343400"/>
            <a:ext cx="10058400" cy="167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tabLst/>
              <a:buNone/>
              <a:defRPr/>
            </a:pPr>
            <a:r>
              <a:rPr sz="1400" b="0">
                <a:solidFill>
                  <a:srgbClr val="212529"/>
                </a:solidFill>
                <a:latin typeface="Calibri"/>
              </a:rPr>
              <a:t>•  Data sources: IMDAA Reanalysis (IITM + NCEP/NCAR)  |  INSAT-3D/3DR via MOSDAC (mosdac.gov.in)  |  GPM IMERG (gpm.nasa.gov)  |  Copernicus DEM  |  Open-Meteo (open-meteo.com)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lnSpc>
                <a:spcPct val="95000"/>
              </a:lnSpc>
              <a:spcAft>
                <a:spcPts val="500"/>
              </a:spcAft>
              <a:buNone/>
            </a:pPr>
            <a:r>
              <a:rPr sz="1400" b="0">
                <a:solidFill>
                  <a:srgbClr val="212529"/>
                </a:solidFill>
                <a:latin typeface="Calibri"/>
              </a:rPr>
              <a:t>•  Method references: Ravuri et al., 'Skilful precipitation nowcasting using deep generative models', Nature (2021)  |  Zhang et al., 'NowcastNet', Science (2023)</a:t>
            </a:r>
          </a:p>
          <a:p>
            <a:pPr>
              <a:lnSpc>
                <a:spcPct val="95000"/>
              </a:lnSpc>
              <a:spcAft>
                <a:spcPts val="500"/>
              </a:spcAft>
              <a:buNone/>
            </a:pPr>
            <a:r>
              <a:rPr sz="1400" b="0">
                <a:solidFill>
                  <a:srgbClr val="212529"/>
                </a:solidFill>
                <a:latin typeface="Calibri"/>
              </a:rPr>
              <a:t>•  Problem statement: SIH26077, Ministry of Earth Sciences (MoES) / India Meteorological Department</a:t>
            </a:r>
          </a:p>
          <a:p>
            <a:pPr>
              <a:lnSpc>
                <a:spcPct val="95000"/>
              </a:lnSpc>
              <a:spcAft>
                <a:spcPts val="500"/>
              </a:spcAft>
              <a:buNone/>
            </a:pPr>
            <a:r>
              <a:rPr sz="1400" b="0">
                <a:solidFill>
                  <a:srgbClr val="212529"/>
                </a:solidFill>
                <a:latin typeface="Calibri"/>
              </a:rPr>
              <a:t>•  Our platform: the live monitoring dashboard and the field sensor nodes shown on slides 2-3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17410" descr="sg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68" y="316832"/>
            <a:ext cx="620066" cy="67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