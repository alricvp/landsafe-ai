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ory" id="{326ecf3a-681b-8f4c-272f-ce391116160e}">
          <p14:sldIdLst/>
        </p14:section>
        <p14:section name="Default-1" id="{d9ef405a-85a2-63a2-125b-d75066a06b27}">
          <p14:sldIdLst>
            <p14:sldId id="257"/>
            <p14:sldId id="258"/>
            <p14:sldId id="259"/>
            <p14:sldId id="260"/>
            <p14:sldId id="261"/>
          </p14:sldIdLst>
        </p14:section>
        <p14:section name="Close" id="{942a49fb-9da2-9004-781b-52721e01e75c}">
          <p14:sldIdLst/>
        </p14:section>
        <p14:section name="Default-2" id="{54094be2-2d75-70db-0cd3-03a07a13c149}">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2303A"/>
                </a:solidFill>
                <a:latin typeface="+mn-lt"/>
              </a:defRPr>
            </a:pPr>
            <a:r>
              <a:rPr sz="1400" b="0" i="0" u="none" strike="noStrike">
                <a:solidFill>
                  <a:srgbClr val="12303A"/>
                </a:solidFill>
                <a:latin typeface="+mn-lt"/>
              </a:rPr>
              <a:t>Predicting a flare in the next 7 days (AUC, 0.5 = coin flip)</a:t>
            </a:r>
          </a:p>
        </c:rich>
      </c:tx>
      <c:layout/>
      <c:overlay val="0"/>
    </c:title>
    <c:autoTitleDeleted val="0"/>
    <c:plotArea>
      <c:layout/>
      <c:barChart>
        <c:barDir val="col"/>
        <c:grouping val="clustered"/>
        <c:varyColors val="0"/>
        <c:ser>
          <c:idx val="0"/>
          <c:order val="0"/>
          <c:tx>
            <c:strRef>
              <c:f>Sheet1!$B$1</c:f>
              <c:strCache>
                <c:ptCount val="1"/>
                <c:pt idx="0">
                  <c:v>AUC</c:v>
                </c:pt>
              </c:strCache>
            </c:strRef>
          </c:tx>
          <c:spPr>
            <a:solidFill>
              <a:srgbClr val="4B6670"/>
            </a:solidFill>
            <a:effectLst/>
          </c:spPr>
          <c:invertIfNegative val="0"/>
          <c:dLbls>
            <c:numFmt formatCode="0.00" sourceLinked="0"/>
            <c:txPr>
              <a:bodyPr/>
              <a:lstStyle/>
              <a:p>
                <a:pPr>
                  <a:defRPr b="1" i="0" strike="noStrike" sz="1600" u="none">
                    <a:solidFill>
                      <a:srgbClr val="12303A"/>
                    </a:solidFill>
                    <a:latin typeface="+mn-lt"/>
                  </a:defRPr>
                </a:pPr>
              </a:p>
            </c:txPr>
            <c:showLegendKey val="0"/>
            <c:showVal val="1"/>
            <c:showCatName val="0"/>
            <c:showSerName val="0"/>
            <c:showPercent val="0"/>
            <c:showBubbleSize val="0"/>
            <c:showLeaderLines val="0"/>
          </c:dLbls>
          <c:dPt>
            <c:idx val="0"/>
            <c:invertIfNegative val="0"/>
            <c:bubble3D val="0"/>
            <c:spPr>
              <a:solidFill>
                <a:srgbClr val="4B6670"/>
              </a:solidFill>
              <a:effectLst/>
            </c:spPr>
          </c:dPt>
          <c:dPt>
            <c:idx val="1"/>
            <c:invertIfNegative val="0"/>
            <c:bubble3D val="0"/>
            <c:spPr>
              <a:solidFill>
                <a:srgbClr val="0F766E"/>
              </a:solidFill>
              <a:effectLst/>
            </c:spPr>
          </c:dPt>
          <c:cat>
            <c:multiLvlStrRef>
              <c:f>Sheet1!$A$2:$A$3</c:f>
              <c:multiLvlStrCache>
                <c:ptCount val="2"/>
                <c:lvl>
                  <c:pt idx="0">
                    <c:v>Today's symptoms only</c:v>
                  </c:pt>
                  <c:pt idx="1">
                    <c:v>FlareGuard</c:v>
                  </c:pt>
                </c:lvl>
              </c:multiLvlStrCache>
            </c:multiLvlStrRef>
          </c:cat>
          <c:val>
            <c:numRef>
              <c:f>Sheet1!$B$2:$B$3</c:f>
              <c:numCache>
                <c:formatCode>General</c:formatCode>
                <c:ptCount val="2"/>
                <c:pt idx="0">
                  <c:v>0.805</c:v>
                </c:pt>
                <c:pt idx="1">
                  <c:v>0.86</c:v>
                </c:pt>
              </c:numCache>
            </c:numRef>
          </c:val>
        </c:ser>
        <c:dLbls>
          <c:numFmt formatCode="0.00" sourceLinked="0"/>
          <c:txPr>
            <a:bodyPr/>
            <a:lstStyle/>
            <a:p>
              <a:pPr>
                <a:defRPr b="1" i="0" strike="noStrike" sz="1600" u="none">
                  <a:solidFill>
                    <a:srgbClr val="12303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2303A"/>
                </a:solidFill>
                <a:latin typeface="+mn-lt"/>
              </a:defRPr>
            </a:pPr>
            <a:endParaRPr lang="en-US"/>
          </a:p>
        </c:txPr>
        <c:crossAx val="2094734552"/>
        <c:crosses val="autoZero"/>
        <c:auto val="1"/>
        <c:lblAlgn val="ctr"/>
        <c:noMultiLvlLbl val="1"/>
      </c:catAx>
      <c:valAx>
        <c:axId val="2094734552"/>
        <c:scaling>
          <c:orientation val="minMax"/>
          <c:max val="1"/>
          <c:min val="0.5"/>
        </c:scaling>
        <c:delete val="0"/>
        <c:axPos val="l"/>
        <c:majorGridlines>
          <c:spPr>
            <a:ln w="9525" cap="flat">
              <a:solidFill>
                <a:srgbClr val="D5E3E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4B6670"/>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one-line pitch: we forecast the chance of an IBD flare over the next seven days, explain what is driving it, and find each patient's personal triggers. Everything you will see runs on synthetic patients, which we will be upfront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gaps. Flares are hard to anticipate. Triggers differ from person to person. And a bare risk number does not tell a patient what to do differently. Our product addresses all three with the same daily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products from one log. The forecast answers 'what is coming'. The trigger detective answers 'what should I change'. The explanations are the differentiator: every number comes with its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logs become lag features, a gradient boosting model forecasts the next seven days, and an occlusion method explains each factor's contribution by swapping it for an average day. Bottom row: for each patient we regress today's symptoms on earlier exposures, adjusting for yesterday's symptoms, and correct p-values across the six factors we test. All of it uses numpy, scipy and scikit-learn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Forecast: AUC 0.86 on 15 held-out synthetic patients versus 0.81 for simply using today's symptom score as the predictor. Triggers: we planted known triggers in the synthetic data and checked recovery across 30 patients: about 98% precision, 95% recall, and the delay correct every time. These numbers show the method works when its assumptions hold; they are not clinical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Streamlit dashboard here. Pick a patient the model never saw (the sidebar toggle is on by default). Walk top to bottom: risk and band, what is driving it, what changed since yesterday, then triggers and the planted-versus-found check. Note: at the time this deck was built the dashboard had not yet been run end to end on the server, so rehearse the demo and consider adding a screenshot as a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limits plainly: everything here is synthetic, so the results demonstrate that the method works when its assumptions hold, not that it works clinically. Trigger detection is temporal evidence, not proof. Then the path forward: real consented logs, clinician review, per-patient calibration. This is a prototype, not medical advice.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737360"/>
            <a:ext cx="7498080" cy="1188720"/>
          </a:xfrm>
          <a:prstGeom prst="rect">
            <a:avLst/>
          </a:prstGeom>
          <a:noFill/>
          <a:ln/>
        </p:spPr>
        <p:txBody>
          <a:bodyPr wrap="square" lIns="0" tIns="0" rIns="0" bIns="0" rtlCol="0" anchor="ctr"/>
          <a:lstStyle/>
          <a:p>
            <a:pPr indent="0" marL="0">
              <a:buNone/>
            </a:pPr>
            <a:r>
              <a:rPr lang="en-US" sz="6600" b="1" dirty="0">
                <a:solidFill>
                  <a:schemeClr val="bg1"/>
                </a:solidFill>
                <a:latin typeface="Cambria" pitchFamily="34" charset="0"/>
                <a:ea typeface="Cambria" pitchFamily="34" charset="-122"/>
                <a:cs typeface="Cambria" pitchFamily="34" charset="-120"/>
              </a:rPr>
              <a:t>FlareGuard</a:t>
            </a:r>
            <a:endParaRPr lang="en-US" sz="6600" dirty="0"/>
          </a:p>
        </p:txBody>
      </p:sp>
      <p:sp>
        <p:nvSpPr>
          <p:cNvPr id="3" name="Text 1"/>
          <p:cNvSpPr txBox="1"/>
          <p:nvPr/>
        </p:nvSpPr>
        <p:spPr>
          <a:xfrm>
            <a:off x="822960" y="3108960"/>
            <a:ext cx="6949440" cy="1371600"/>
          </a:xfrm>
          <a:prstGeom prst="rect">
            <a:avLst/>
          </a:prstGeom>
          <a:noFill/>
          <a:ln/>
        </p:spPr>
        <p:txBody>
          <a:bodyPr wrap="square" lIns="0" tIns="0" rIns="0" bIns="0" rtlCol="0" anchor="t"/>
          <a:lstStyle/>
          <a:p>
            <a:pPr indent="0" marL="0">
              <a:buNone/>
            </a:pPr>
            <a:r>
              <a:rPr lang="en-US" sz="2200" dirty="0">
                <a:solidFill>
                  <a:schemeClr val="accent6"/>
                </a:solidFill>
              </a:rPr>
              <a:t>Seven-day IBD flare forecasts that explain themselves, and show each patient which habits precede their bad days.</a:t>
            </a:r>
            <a:endParaRPr lang="en-US" sz="2200" dirty="0"/>
          </a:p>
        </p:txBody>
      </p:sp>
      <p:sp>
        <p:nvSpPr>
          <p:cNvPr id="4" name="Text 2"/>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400" dirty="0">
                <a:solidFill>
                  <a:schemeClr val="accent6"/>
                </a:solidFill>
              </a:rPr>
              <a:t>Prototype built on synthetic patients. Not medical advice.</a:t>
            </a:r>
            <a:endParaRPr lang="en-US" sz="1400" dirty="0"/>
          </a:p>
        </p:txBody>
      </p:sp>
      <p:sp>
        <p:nvSpPr>
          <p:cNvPr id="5" name="motif circle"/>
          <p:cNvSpPr/>
          <p:nvPr/>
        </p:nvSpPr>
        <p:spPr>
          <a:xfrm>
            <a:off x="8503920" y="1463040"/>
            <a:ext cx="3108960" cy="3108960"/>
          </a:xfrm>
          <a:prstGeom prst="ellipse">
            <a:avLst/>
          </a:prstGeom>
          <a:solidFill>
            <a:schemeClr val="tx2"/>
          </a:solidFill>
          <a:ln/>
        </p:spPr>
      </p:sp>
      <p:pic>
        <p:nvPicPr>
          <p:cNvPr id="6" name="Image 0" descr="heartbeat icon">    </p:cNvPr>
          <p:cNvPicPr>
            <a:picLocks noChangeAspect="1"/>
          </p:cNvPicPr>
          <p:nvPr/>
        </p:nvPicPr>
        <p:blipFill>
          <a:blip r:embed="rId1"/>
          <a:stretch>
            <a:fillRect/>
          </a:stretch>
        </p:blipFill>
        <p:spPr>
          <a:xfrm>
            <a:off x="9326880" y="2286000"/>
            <a:ext cx="1463040" cy="1463040"/>
          </a:xfrm>
          <a:prstGeom prst="rect">
            <a:avLst/>
          </a:prstGeom>
        </p:spPr>
      </p:pic>
      <p:sp>
        <p:nvSpPr>
          <p:cNvPr id="8"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tx1"/>
                </a:solidFill>
              </a:rPr>
              <a:t>Patients get a score, not a reason</a:t>
            </a:r>
            <a:endParaRPr lang="en-US" sz="3600" dirty="0"/>
          </a:p>
        </p:txBody>
      </p:sp>
      <p:sp>
        <p:nvSpPr>
          <p:cNvPr id="3" name="problem card 1"/>
          <p:cNvSpPr/>
          <p:nvPr/>
        </p:nvSpPr>
        <p:spPr>
          <a:xfrm>
            <a:off x="640080" y="1645920"/>
            <a:ext cx="3383280" cy="3931920"/>
          </a:xfrm>
          <a:prstGeom prst="roundRect">
            <a:avLst>
              <a:gd name="adj" fmla="val 3243"/>
            </a:avLst>
          </a:prstGeom>
          <a:solidFill>
            <a:schemeClr val="bg2"/>
          </a:solidFill>
          <a:ln/>
        </p:spPr>
      </p:sp>
      <p:sp>
        <p:nvSpPr>
          <p:cNvPr id="4" name="A flare can build quietly circle"/>
          <p:cNvSpPr/>
          <p:nvPr/>
        </p:nvSpPr>
        <p:spPr>
          <a:xfrm>
            <a:off x="1005840" y="2011680"/>
            <a:ext cx="822960" cy="822960"/>
          </a:xfrm>
          <a:prstGeom prst="ellipse">
            <a:avLst/>
          </a:prstGeom>
          <a:solidFill>
            <a:schemeClr val="accent1"/>
          </a:solidFill>
          <a:ln/>
        </p:spPr>
      </p:sp>
      <p:pic>
        <p:nvPicPr>
          <p:cNvPr id="5" name="Image 0" descr="A flare can build quietly">    </p:cNvPr>
          <p:cNvPicPr>
            <a:picLocks noChangeAspect="1"/>
          </p:cNvPicPr>
          <p:nvPr/>
        </p:nvPicPr>
        <p:blipFill>
          <a:blip r:embed="rId1"/>
          <a:stretch>
            <a:fillRect/>
          </a:stretch>
        </p:blipFill>
        <p:spPr>
          <a:xfrm>
            <a:off x="1211580" y="2217420"/>
            <a:ext cx="411480" cy="411480"/>
          </a:xfrm>
          <a:prstGeom prst="rect">
            <a:avLst/>
          </a:prstGeom>
        </p:spPr>
      </p:pic>
      <p:sp>
        <p:nvSpPr>
          <p:cNvPr id="6" name="Text 3"/>
          <p:cNvSpPr txBox="1"/>
          <p:nvPr/>
        </p:nvSpPr>
        <p:spPr>
          <a:xfrm>
            <a:off x="1005840" y="3108960"/>
            <a:ext cx="26517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 flare can build quietly</a:t>
            </a:r>
            <a:endParaRPr lang="en-US" sz="2200" dirty="0"/>
          </a:p>
        </p:txBody>
      </p:sp>
      <p:sp>
        <p:nvSpPr>
          <p:cNvPr id="7" name="Text 4"/>
          <p:cNvSpPr txBox="1"/>
          <p:nvPr/>
        </p:nvSpPr>
        <p:spPr>
          <a:xfrm>
            <a:off x="1005840" y="3977640"/>
            <a:ext cx="2651760" cy="1463040"/>
          </a:xfrm>
          <a:prstGeom prst="rect">
            <a:avLst/>
          </a:prstGeom>
          <a:noFill/>
          <a:ln/>
        </p:spPr>
        <p:txBody>
          <a:bodyPr wrap="square" lIns="0" tIns="0" rIns="0" bIns="0" rtlCol="0" anchor="t"/>
          <a:lstStyle/>
          <a:p>
            <a:pPr indent="0" marL="0">
              <a:buNone/>
            </a:pPr>
            <a:r>
              <a:rPr lang="en-US" sz="1600" dirty="0">
                <a:solidFill>
                  <a:schemeClr val="accent5"/>
                </a:solidFill>
              </a:rPr>
              <a:t>Worsening can start days before it is obvious, so warning needs to come early.</a:t>
            </a:r>
            <a:endParaRPr lang="en-US" sz="1600" dirty="0"/>
          </a:p>
        </p:txBody>
      </p:sp>
      <p:sp>
        <p:nvSpPr>
          <p:cNvPr id="8" name="problem card 2"/>
          <p:cNvSpPr/>
          <p:nvPr/>
        </p:nvSpPr>
        <p:spPr>
          <a:xfrm>
            <a:off x="4389120" y="1645920"/>
            <a:ext cx="3383280" cy="3931920"/>
          </a:xfrm>
          <a:prstGeom prst="roundRect">
            <a:avLst>
              <a:gd name="adj" fmla="val 3243"/>
            </a:avLst>
          </a:prstGeom>
          <a:solidFill>
            <a:schemeClr val="bg2"/>
          </a:solidFill>
          <a:ln/>
        </p:spPr>
      </p:sp>
      <p:sp>
        <p:nvSpPr>
          <p:cNvPr id="9" name="Triggers are personal circle"/>
          <p:cNvSpPr/>
          <p:nvPr/>
        </p:nvSpPr>
        <p:spPr>
          <a:xfrm>
            <a:off x="4754880" y="2011680"/>
            <a:ext cx="822960" cy="822960"/>
          </a:xfrm>
          <a:prstGeom prst="ellipse">
            <a:avLst/>
          </a:prstGeom>
          <a:solidFill>
            <a:schemeClr val="accent1"/>
          </a:solidFill>
          <a:ln/>
        </p:spPr>
      </p:sp>
      <p:pic>
        <p:nvPicPr>
          <p:cNvPr id="10" name="Image 1" descr="Triggers are personal">    </p:cNvPr>
          <p:cNvPicPr>
            <a:picLocks noChangeAspect="1"/>
          </p:cNvPicPr>
          <p:nvPr/>
        </p:nvPicPr>
        <p:blipFill>
          <a:blip r:embed="rId2"/>
          <a:stretch>
            <a:fillRect/>
          </a:stretch>
        </p:blipFill>
        <p:spPr>
          <a:xfrm>
            <a:off x="4960620" y="2217420"/>
            <a:ext cx="411480" cy="411480"/>
          </a:xfrm>
          <a:prstGeom prst="rect">
            <a:avLst/>
          </a:prstGeom>
        </p:spPr>
      </p:pic>
      <p:sp>
        <p:nvSpPr>
          <p:cNvPr id="11" name="Text 7"/>
          <p:cNvSpPr txBox="1"/>
          <p:nvPr/>
        </p:nvSpPr>
        <p:spPr>
          <a:xfrm>
            <a:off x="4754880" y="3108960"/>
            <a:ext cx="26517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Triggers are personal</a:t>
            </a:r>
            <a:endParaRPr lang="en-US" sz="2200" dirty="0"/>
          </a:p>
        </p:txBody>
      </p:sp>
      <p:sp>
        <p:nvSpPr>
          <p:cNvPr id="12" name="Text 8"/>
          <p:cNvSpPr txBox="1"/>
          <p:nvPr/>
        </p:nvSpPr>
        <p:spPr>
          <a:xfrm>
            <a:off x="4754880" y="3977640"/>
            <a:ext cx="2651760" cy="1463040"/>
          </a:xfrm>
          <a:prstGeom prst="rect">
            <a:avLst/>
          </a:prstGeom>
          <a:noFill/>
          <a:ln/>
        </p:spPr>
        <p:txBody>
          <a:bodyPr wrap="square" lIns="0" tIns="0" rIns="0" bIns="0" rtlCol="0" anchor="t"/>
          <a:lstStyle/>
          <a:p>
            <a:pPr indent="0" marL="0">
              <a:buNone/>
            </a:pPr>
            <a:r>
              <a:rPr lang="en-US" sz="1600" dirty="0">
                <a:solidFill>
                  <a:schemeClr val="accent5"/>
                </a:solidFill>
              </a:rPr>
              <a:t>Dairy may bother one person, short sleep or a missed dose another. One rule does not fit everyone.</a:t>
            </a:r>
            <a:endParaRPr lang="en-US" sz="1600" dirty="0"/>
          </a:p>
        </p:txBody>
      </p:sp>
      <p:sp>
        <p:nvSpPr>
          <p:cNvPr id="13" name="problem card 3"/>
          <p:cNvSpPr/>
          <p:nvPr/>
        </p:nvSpPr>
        <p:spPr>
          <a:xfrm>
            <a:off x="8138160" y="1645920"/>
            <a:ext cx="3383280" cy="3931920"/>
          </a:xfrm>
          <a:prstGeom prst="roundRect">
            <a:avLst>
              <a:gd name="adj" fmla="val 3243"/>
            </a:avLst>
          </a:prstGeom>
          <a:solidFill>
            <a:schemeClr val="bg2"/>
          </a:solidFill>
          <a:ln/>
        </p:spPr>
      </p:sp>
      <p:sp>
        <p:nvSpPr>
          <p:cNvPr id="14" name="A number is not actionable circle"/>
          <p:cNvSpPr/>
          <p:nvPr/>
        </p:nvSpPr>
        <p:spPr>
          <a:xfrm>
            <a:off x="8503920" y="2011680"/>
            <a:ext cx="822960" cy="822960"/>
          </a:xfrm>
          <a:prstGeom prst="ellipse">
            <a:avLst/>
          </a:prstGeom>
          <a:solidFill>
            <a:schemeClr val="accent1"/>
          </a:solidFill>
          <a:ln/>
        </p:spPr>
      </p:sp>
      <p:pic>
        <p:nvPicPr>
          <p:cNvPr id="15" name="Image 2" descr="A number is not actionable">    </p:cNvPr>
          <p:cNvPicPr>
            <a:picLocks noChangeAspect="1"/>
          </p:cNvPicPr>
          <p:nvPr/>
        </p:nvPicPr>
        <p:blipFill>
          <a:blip r:embed="rId3"/>
          <a:stretch>
            <a:fillRect/>
          </a:stretch>
        </p:blipFill>
        <p:spPr>
          <a:xfrm>
            <a:off x="8709660" y="2217420"/>
            <a:ext cx="411480" cy="411480"/>
          </a:xfrm>
          <a:prstGeom prst="rect">
            <a:avLst/>
          </a:prstGeom>
        </p:spPr>
      </p:pic>
      <p:sp>
        <p:nvSpPr>
          <p:cNvPr id="16" name="Text 11"/>
          <p:cNvSpPr txBox="1"/>
          <p:nvPr/>
        </p:nvSpPr>
        <p:spPr>
          <a:xfrm>
            <a:off x="8503920" y="3108960"/>
            <a:ext cx="2651760" cy="82296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A number is not actionable</a:t>
            </a:r>
            <a:endParaRPr lang="en-US" sz="2200" dirty="0"/>
          </a:p>
        </p:txBody>
      </p:sp>
      <p:sp>
        <p:nvSpPr>
          <p:cNvPr id="17" name="Text 12"/>
          <p:cNvSpPr txBox="1"/>
          <p:nvPr/>
        </p:nvSpPr>
        <p:spPr>
          <a:xfrm>
            <a:off x="8503920" y="3977640"/>
            <a:ext cx="2651760" cy="1463040"/>
          </a:xfrm>
          <a:prstGeom prst="rect">
            <a:avLst/>
          </a:prstGeom>
          <a:noFill/>
          <a:ln/>
        </p:spPr>
        <p:txBody>
          <a:bodyPr wrap="square" lIns="0" tIns="0" rIns="0" bIns="0" rtlCol="0" anchor="t"/>
          <a:lstStyle/>
          <a:p>
            <a:pPr indent="0" marL="0">
              <a:buNone/>
            </a:pPr>
            <a:r>
              <a:rPr lang="en-US" sz="1600" dirty="0">
                <a:solidFill>
                  <a:schemeClr val="accent5"/>
                </a:solidFill>
              </a:rPr>
              <a:t>Knowing risk is high helps little without knowing why, or what to change.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tx1"/>
                </a:solidFill>
              </a:rPr>
              <a:t>What's coming, and what do I change?</a:t>
            </a:r>
            <a:endParaRPr lang="en-US" sz="3600" dirty="0"/>
          </a:p>
        </p:txBody>
      </p:sp>
      <p:sp>
        <p:nvSpPr>
          <p:cNvPr id="3" name="idea card 1"/>
          <p:cNvSpPr/>
          <p:nvPr/>
        </p:nvSpPr>
        <p:spPr>
          <a:xfrm>
            <a:off x="640080" y="1645920"/>
            <a:ext cx="5303520" cy="2926080"/>
          </a:xfrm>
          <a:prstGeom prst="roundRect">
            <a:avLst>
              <a:gd name="adj" fmla="val 3750"/>
            </a:avLst>
          </a:prstGeom>
          <a:solidFill>
            <a:schemeClr val="bg2"/>
          </a:solidFill>
          <a:ln/>
        </p:spPr>
      </p:sp>
      <p:sp>
        <p:nvSpPr>
          <p:cNvPr id="4" name="Seven-day flare forecast circle"/>
          <p:cNvSpPr/>
          <p:nvPr/>
        </p:nvSpPr>
        <p:spPr>
          <a:xfrm>
            <a:off x="1051560" y="1965960"/>
            <a:ext cx="822960" cy="822960"/>
          </a:xfrm>
          <a:prstGeom prst="ellipse">
            <a:avLst/>
          </a:prstGeom>
          <a:solidFill>
            <a:schemeClr val="accent1"/>
          </a:solidFill>
          <a:ln/>
        </p:spPr>
      </p:sp>
      <p:pic>
        <p:nvPicPr>
          <p:cNvPr id="5" name="Image 0" descr="Seven-day flare forecast">    </p:cNvPr>
          <p:cNvPicPr>
            <a:picLocks noChangeAspect="1"/>
          </p:cNvPicPr>
          <p:nvPr/>
        </p:nvPicPr>
        <p:blipFill>
          <a:blip r:embed="rId1"/>
          <a:stretch>
            <a:fillRect/>
          </a:stretch>
        </p:blipFill>
        <p:spPr>
          <a:xfrm>
            <a:off x="1257300" y="2171700"/>
            <a:ext cx="411480" cy="411480"/>
          </a:xfrm>
          <a:prstGeom prst="rect">
            <a:avLst/>
          </a:prstGeom>
        </p:spPr>
      </p:pic>
      <p:sp>
        <p:nvSpPr>
          <p:cNvPr id="6" name="Text 3"/>
          <p:cNvSpPr txBox="1"/>
          <p:nvPr/>
        </p:nvSpPr>
        <p:spPr>
          <a:xfrm>
            <a:off x="2103120" y="2011680"/>
            <a:ext cx="3566160" cy="7315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Seven-day flare forecast</a:t>
            </a:r>
            <a:endParaRPr lang="en-US" sz="2400" dirty="0"/>
          </a:p>
        </p:txBody>
      </p:sp>
      <p:sp>
        <p:nvSpPr>
          <p:cNvPr id="7" name="Text 4"/>
          <p:cNvSpPr txBox="1"/>
          <p:nvPr/>
        </p:nvSpPr>
        <p:spPr>
          <a:xfrm>
            <a:off x="1051560" y="3063240"/>
            <a:ext cx="4480560" cy="1737360"/>
          </a:xfrm>
          <a:prstGeom prst="rect">
            <a:avLst/>
          </a:prstGeom>
          <a:noFill/>
          <a:ln/>
        </p:spPr>
        <p:txBody>
          <a:bodyPr wrap="square" lIns="0" tIns="0" rIns="0" bIns="0" rtlCol="0" anchor="t"/>
          <a:lstStyle/>
          <a:p>
            <a:pPr indent="0" marL="0">
              <a:buNone/>
            </a:pPr>
            <a:r>
              <a:rPr lang="en-US" sz="1800" dirty="0">
                <a:solidFill>
                  <a:schemeClr val="accent5"/>
                </a:solidFill>
              </a:rPr>
              <a:t>A probability for the next 7 days, shown as Low, Moderate or High, with the factors pushing it up or down today and compared with yesterday.</a:t>
            </a:r>
            <a:endParaRPr lang="en-US" sz="1800" dirty="0"/>
          </a:p>
        </p:txBody>
      </p:sp>
      <p:sp>
        <p:nvSpPr>
          <p:cNvPr id="8" name="idea card 2"/>
          <p:cNvSpPr/>
          <p:nvPr/>
        </p:nvSpPr>
        <p:spPr>
          <a:xfrm>
            <a:off x="6217920" y="1645920"/>
            <a:ext cx="5303520" cy="2926080"/>
          </a:xfrm>
          <a:prstGeom prst="roundRect">
            <a:avLst>
              <a:gd name="adj" fmla="val 3750"/>
            </a:avLst>
          </a:prstGeom>
          <a:solidFill>
            <a:schemeClr val="bg2"/>
          </a:solidFill>
          <a:ln/>
        </p:spPr>
      </p:sp>
      <p:sp>
        <p:nvSpPr>
          <p:cNvPr id="9" name="Personal trigger detective circle"/>
          <p:cNvSpPr/>
          <p:nvPr/>
        </p:nvSpPr>
        <p:spPr>
          <a:xfrm>
            <a:off x="6629400" y="1965960"/>
            <a:ext cx="822960" cy="822960"/>
          </a:xfrm>
          <a:prstGeom prst="ellipse">
            <a:avLst/>
          </a:prstGeom>
          <a:solidFill>
            <a:schemeClr val="accent1"/>
          </a:solidFill>
          <a:ln/>
        </p:spPr>
      </p:sp>
      <p:pic>
        <p:nvPicPr>
          <p:cNvPr id="10" name="Image 1" descr="Personal trigger detective">    </p:cNvPr>
          <p:cNvPicPr>
            <a:picLocks noChangeAspect="1"/>
          </p:cNvPicPr>
          <p:nvPr/>
        </p:nvPicPr>
        <p:blipFill>
          <a:blip r:embed="rId2"/>
          <a:stretch>
            <a:fillRect/>
          </a:stretch>
        </p:blipFill>
        <p:spPr>
          <a:xfrm>
            <a:off x="6835140" y="2171700"/>
            <a:ext cx="411480" cy="411480"/>
          </a:xfrm>
          <a:prstGeom prst="rect">
            <a:avLst/>
          </a:prstGeom>
        </p:spPr>
      </p:pic>
      <p:sp>
        <p:nvSpPr>
          <p:cNvPr id="11" name="Text 7"/>
          <p:cNvSpPr txBox="1"/>
          <p:nvPr/>
        </p:nvSpPr>
        <p:spPr>
          <a:xfrm>
            <a:off x="7680960" y="2011680"/>
            <a:ext cx="3566160" cy="731520"/>
          </a:xfrm>
          <a:prstGeom prst="rect">
            <a:avLst/>
          </a:prstGeom>
          <a:noFill/>
          <a:ln/>
        </p:spPr>
        <p:txBody>
          <a:bodyPr wrap="square" lIns="0" tIns="0" rIns="0" bIns="0" rtlCol="0" anchor="ctr"/>
          <a:lstStyle/>
          <a:p>
            <a:pPr indent="0" marL="0">
              <a:buNone/>
            </a:pPr>
            <a:r>
              <a:rPr lang="en-US" sz="2400" b="1" dirty="0">
                <a:solidFill>
                  <a:schemeClr val="tx1"/>
                </a:solidFill>
                <a:latin typeface="Cambria" pitchFamily="34" charset="0"/>
                <a:ea typeface="Cambria" pitchFamily="34" charset="-122"/>
                <a:cs typeface="Cambria" pitchFamily="34" charset="-120"/>
              </a:rPr>
              <a:t>Personal trigger detective</a:t>
            </a:r>
            <a:endParaRPr lang="en-US" sz="2400" dirty="0"/>
          </a:p>
        </p:txBody>
      </p:sp>
      <p:sp>
        <p:nvSpPr>
          <p:cNvPr id="12" name="Text 8"/>
          <p:cNvSpPr txBox="1"/>
          <p:nvPr/>
        </p:nvSpPr>
        <p:spPr>
          <a:xfrm>
            <a:off x="6629400" y="3063240"/>
            <a:ext cx="4480560" cy="1737360"/>
          </a:xfrm>
          <a:prstGeom prst="rect">
            <a:avLst/>
          </a:prstGeom>
          <a:noFill/>
          <a:ln/>
        </p:spPr>
        <p:txBody>
          <a:bodyPr wrap="square" lIns="0" tIns="0" rIns="0" bIns="0" rtlCol="0" anchor="t"/>
          <a:lstStyle/>
          <a:p>
            <a:pPr indent="0" marL="0">
              <a:buNone/>
            </a:pPr>
            <a:r>
              <a:rPr lang="en-US" sz="1800" dirty="0">
                <a:solidFill>
                  <a:schemeClr val="accent5"/>
                </a:solidFill>
              </a:rPr>
              <a:t>For each patient: which habits tend to come before worse symptoms, how many days later, and by how much.</a:t>
            </a:r>
            <a:endParaRPr lang="en-US" sz="1800" dirty="0"/>
          </a:p>
        </p:txBody>
      </p:sp>
      <p:sp>
        <p:nvSpPr>
          <p:cNvPr id="13" name="Text 9"/>
          <p:cNvSpPr txBox="1"/>
          <p:nvPr/>
        </p:nvSpPr>
        <p:spPr>
          <a:xfrm>
            <a:off x="640080" y="4937760"/>
            <a:ext cx="10881360" cy="548640"/>
          </a:xfrm>
          <a:prstGeom prst="rect">
            <a:avLst/>
          </a:prstGeom>
          <a:noFill/>
          <a:ln/>
        </p:spPr>
        <p:txBody>
          <a:bodyPr wrap="square" lIns="0" tIns="0" rIns="0" bIns="0" rtlCol="0" anchor="t"/>
          <a:lstStyle/>
          <a:p>
            <a:pPr indent="0" marL="0">
              <a:buNone/>
            </a:pPr>
            <a:r>
              <a:rPr lang="en-US" sz="1800" dirty="0">
                <a:solidFill>
                  <a:schemeClr val="tx1"/>
                </a:solidFill>
              </a:rPr>
              <a:t>Both run from one simple daily log: food, alcohol, stress, sleep, medication and symptoms.</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tx1"/>
                </a:solidFill>
              </a:rPr>
              <a:t>How FlareGuard works</a:t>
            </a:r>
            <a:endParaRPr lang="en-US" sz="3600" dirty="0"/>
          </a:p>
        </p:txBody>
      </p:sp>
      <p:sp>
        <p:nvSpPr>
          <p:cNvPr id="3" name="Daily logs"/>
          <p:cNvSpPr/>
          <p:nvPr/>
        </p:nvSpPr>
        <p:spPr>
          <a:xfrm>
            <a:off x="640080" y="1645920"/>
            <a:ext cx="2377440" cy="1508760"/>
          </a:xfrm>
          <a:prstGeom prst="roundRect">
            <a:avLst>
              <a:gd name="adj" fmla="val 6061"/>
            </a:avLst>
          </a:prstGeom>
          <a:solidFill>
            <a:schemeClr val="tx2"/>
          </a:solidFill>
          <a:ln/>
        </p:spPr>
      </p:sp>
      <p:sp>
        <p:nvSpPr>
          <p:cNvPr id="4" name="Text 2"/>
          <p:cNvSpPr txBox="1"/>
          <p:nvPr/>
        </p:nvSpPr>
        <p:spPr>
          <a:xfrm>
            <a:off x="822960" y="1810512"/>
            <a:ext cx="201168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Daily logs</a:t>
            </a:r>
            <a:endParaRPr lang="en-US" sz="1800" dirty="0"/>
          </a:p>
        </p:txBody>
      </p:sp>
      <p:sp>
        <p:nvSpPr>
          <p:cNvPr id="5" name="Text 3"/>
          <p:cNvSpPr txBox="1"/>
          <p:nvPr/>
        </p:nvSpPr>
        <p:spPr>
          <a:xfrm>
            <a:off x="822960" y="2267712"/>
            <a:ext cx="2011680" cy="822960"/>
          </a:xfrm>
          <a:prstGeom prst="rect">
            <a:avLst/>
          </a:prstGeom>
          <a:noFill/>
          <a:ln/>
        </p:spPr>
        <p:txBody>
          <a:bodyPr wrap="square" lIns="0" tIns="0" rIns="0" bIns="0" rtlCol="0" anchor="t"/>
          <a:lstStyle/>
          <a:p>
            <a:pPr indent="0" marL="0">
              <a:buNone/>
            </a:pPr>
            <a:r>
              <a:rPr lang="en-US" sz="1400" dirty="0">
                <a:solidFill>
                  <a:schemeClr val="accent6"/>
                </a:solidFill>
              </a:rPr>
              <a:t>Diet, alcohol, stress, sleep, medication, symptoms</a:t>
            </a:r>
            <a:endParaRPr lang="en-US" sz="1400" dirty="0"/>
          </a:p>
        </p:txBody>
      </p:sp>
      <p:sp>
        <p:nvSpPr>
          <p:cNvPr id="6" name="Features"/>
          <p:cNvSpPr/>
          <p:nvPr/>
        </p:nvSpPr>
        <p:spPr>
          <a:xfrm>
            <a:off x="3474720" y="1645920"/>
            <a:ext cx="2377440" cy="1508760"/>
          </a:xfrm>
          <a:prstGeom prst="roundRect">
            <a:avLst>
              <a:gd name="adj" fmla="val 6061"/>
            </a:avLst>
          </a:prstGeom>
          <a:solidFill>
            <a:schemeClr val="bg2"/>
          </a:solidFill>
          <a:ln/>
        </p:spPr>
      </p:sp>
      <p:sp>
        <p:nvSpPr>
          <p:cNvPr id="7" name="Text 5"/>
          <p:cNvSpPr txBox="1"/>
          <p:nvPr/>
        </p:nvSpPr>
        <p:spPr>
          <a:xfrm>
            <a:off x="3657600" y="1810512"/>
            <a:ext cx="20116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Features</a:t>
            </a:r>
            <a:endParaRPr lang="en-US" sz="1800" dirty="0"/>
          </a:p>
        </p:txBody>
      </p:sp>
      <p:sp>
        <p:nvSpPr>
          <p:cNvPr id="8" name="Text 6"/>
          <p:cNvSpPr txBox="1"/>
          <p:nvPr/>
        </p:nvSpPr>
        <p:spPr>
          <a:xfrm>
            <a:off x="3657600" y="2267712"/>
            <a:ext cx="2011680" cy="822960"/>
          </a:xfrm>
          <a:prstGeom prst="rect">
            <a:avLst/>
          </a:prstGeom>
          <a:noFill/>
          <a:ln/>
        </p:spPr>
        <p:txBody>
          <a:bodyPr wrap="square" lIns="0" tIns="0" rIns="0" bIns="0" rtlCol="0" anchor="t"/>
          <a:lstStyle/>
          <a:p>
            <a:pPr indent="0" marL="0">
              <a:buNone/>
            </a:pPr>
            <a:r>
              <a:rPr lang="en-US" sz="1400" dirty="0">
                <a:solidFill>
                  <a:schemeClr val="accent5"/>
                </a:solidFill>
              </a:rPr>
              <a:t>Yesterday, two days ago, 7-day averages</a:t>
            </a:r>
            <a:endParaRPr lang="en-US" sz="1400" dirty="0"/>
          </a:p>
        </p:txBody>
      </p:sp>
      <p:sp>
        <p:nvSpPr>
          <p:cNvPr id="9" name="Forecaster"/>
          <p:cNvSpPr/>
          <p:nvPr/>
        </p:nvSpPr>
        <p:spPr>
          <a:xfrm>
            <a:off x="6309360" y="1645920"/>
            <a:ext cx="2377440" cy="1508760"/>
          </a:xfrm>
          <a:prstGeom prst="roundRect">
            <a:avLst>
              <a:gd name="adj" fmla="val 6061"/>
            </a:avLst>
          </a:prstGeom>
          <a:solidFill>
            <a:schemeClr val="accent1"/>
          </a:solidFill>
          <a:ln/>
        </p:spPr>
      </p:sp>
      <p:sp>
        <p:nvSpPr>
          <p:cNvPr id="10" name="Text 8"/>
          <p:cNvSpPr txBox="1"/>
          <p:nvPr/>
        </p:nvSpPr>
        <p:spPr>
          <a:xfrm>
            <a:off x="6492240" y="1810512"/>
            <a:ext cx="201168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Forecaster</a:t>
            </a:r>
            <a:endParaRPr lang="en-US" sz="1800" dirty="0"/>
          </a:p>
        </p:txBody>
      </p:sp>
      <p:sp>
        <p:nvSpPr>
          <p:cNvPr id="11" name="Text 9"/>
          <p:cNvSpPr txBox="1"/>
          <p:nvPr/>
        </p:nvSpPr>
        <p:spPr>
          <a:xfrm>
            <a:off x="6492240" y="2267712"/>
            <a:ext cx="2011680" cy="822960"/>
          </a:xfrm>
          <a:prstGeom prst="rect">
            <a:avLst/>
          </a:prstGeom>
          <a:noFill/>
          <a:ln/>
        </p:spPr>
        <p:txBody>
          <a:bodyPr wrap="square" lIns="0" tIns="0" rIns="0" bIns="0" rtlCol="0" anchor="t"/>
          <a:lstStyle/>
          <a:p>
            <a:pPr indent="0" marL="0">
              <a:buNone/>
            </a:pPr>
            <a:r>
              <a:rPr lang="en-US" sz="1400" dirty="0">
                <a:solidFill>
                  <a:schemeClr val="bg2"/>
                </a:solidFill>
              </a:rPr>
              <a:t>Gradient boosting: chance of a flare in 7 days</a:t>
            </a:r>
            <a:endParaRPr lang="en-US" sz="1400" dirty="0"/>
          </a:p>
        </p:txBody>
      </p:sp>
      <p:sp>
        <p:nvSpPr>
          <p:cNvPr id="12" name="Explanation"/>
          <p:cNvSpPr/>
          <p:nvPr/>
        </p:nvSpPr>
        <p:spPr>
          <a:xfrm>
            <a:off x="9144000" y="1645920"/>
            <a:ext cx="2377440" cy="1508760"/>
          </a:xfrm>
          <a:prstGeom prst="roundRect">
            <a:avLst>
              <a:gd name="adj" fmla="val 6061"/>
            </a:avLst>
          </a:prstGeom>
          <a:solidFill>
            <a:schemeClr val="bg2"/>
          </a:solidFill>
          <a:ln/>
        </p:spPr>
      </p:sp>
      <p:sp>
        <p:nvSpPr>
          <p:cNvPr id="13" name="Text 11"/>
          <p:cNvSpPr txBox="1"/>
          <p:nvPr/>
        </p:nvSpPr>
        <p:spPr>
          <a:xfrm>
            <a:off x="9326880" y="1810512"/>
            <a:ext cx="20116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Explanation</a:t>
            </a:r>
            <a:endParaRPr lang="en-US" sz="1800" dirty="0"/>
          </a:p>
        </p:txBody>
      </p:sp>
      <p:sp>
        <p:nvSpPr>
          <p:cNvPr id="14" name="Text 12"/>
          <p:cNvSpPr txBox="1"/>
          <p:nvPr/>
        </p:nvSpPr>
        <p:spPr>
          <a:xfrm>
            <a:off x="9326880" y="2267712"/>
            <a:ext cx="2011680" cy="822960"/>
          </a:xfrm>
          <a:prstGeom prst="rect">
            <a:avLst/>
          </a:prstGeom>
          <a:noFill/>
          <a:ln/>
        </p:spPr>
        <p:txBody>
          <a:bodyPr wrap="square" lIns="0" tIns="0" rIns="0" bIns="0" rtlCol="0" anchor="t"/>
          <a:lstStyle/>
          <a:p>
            <a:pPr indent="0" marL="0">
              <a:buNone/>
            </a:pPr>
            <a:r>
              <a:rPr lang="en-US" sz="1400" dirty="0">
                <a:solidFill>
                  <a:schemeClr val="accent5"/>
                </a:solidFill>
              </a:rPr>
              <a:t>Each factor's push on risk, today and vs. yesterday</a:t>
            </a:r>
            <a:endParaRPr lang="en-US" sz="1400" dirty="0"/>
          </a:p>
        </p:txBody>
      </p:sp>
      <p:sp>
        <p:nvSpPr>
          <p:cNvPr id="15" name="arrow"/>
          <p:cNvSpPr/>
          <p:nvPr/>
        </p:nvSpPr>
        <p:spPr>
          <a:xfrm>
            <a:off x="3063240" y="2400300"/>
            <a:ext cx="365760" cy="0"/>
          </a:xfrm>
          <a:prstGeom prst="line">
            <a:avLst/>
          </a:prstGeom>
          <a:noFill/>
          <a:ln w="25400">
            <a:solidFill>
              <a:schemeClr val="accent5"/>
            </a:solidFill>
            <a:prstDash val="solid"/>
            <a:tailEnd type="triangle"/>
          </a:ln>
        </p:spPr>
      </p:sp>
      <p:sp>
        <p:nvSpPr>
          <p:cNvPr id="16" name="arrow"/>
          <p:cNvSpPr/>
          <p:nvPr/>
        </p:nvSpPr>
        <p:spPr>
          <a:xfrm>
            <a:off x="5897880" y="2400300"/>
            <a:ext cx="365760" cy="0"/>
          </a:xfrm>
          <a:prstGeom prst="line">
            <a:avLst/>
          </a:prstGeom>
          <a:noFill/>
          <a:ln w="25400">
            <a:solidFill>
              <a:schemeClr val="accent5"/>
            </a:solidFill>
            <a:prstDash val="solid"/>
            <a:tailEnd type="triangle"/>
          </a:ln>
        </p:spPr>
      </p:sp>
      <p:sp>
        <p:nvSpPr>
          <p:cNvPr id="17" name="arrow"/>
          <p:cNvSpPr/>
          <p:nvPr/>
        </p:nvSpPr>
        <p:spPr>
          <a:xfrm>
            <a:off x="8732520" y="2400300"/>
            <a:ext cx="365760" cy="0"/>
          </a:xfrm>
          <a:prstGeom prst="line">
            <a:avLst/>
          </a:prstGeom>
          <a:noFill/>
          <a:ln w="25400">
            <a:solidFill>
              <a:schemeClr val="accent5"/>
            </a:solidFill>
            <a:prstDash val="solid"/>
            <a:tailEnd type="triangle"/>
          </a:ln>
        </p:spPr>
      </p:sp>
      <p:sp>
        <p:nvSpPr>
          <p:cNvPr id="18" name="Same daily logs"/>
          <p:cNvSpPr/>
          <p:nvPr/>
        </p:nvSpPr>
        <p:spPr>
          <a:xfrm>
            <a:off x="640080" y="3886200"/>
            <a:ext cx="2377440" cy="1508760"/>
          </a:xfrm>
          <a:prstGeom prst="roundRect">
            <a:avLst>
              <a:gd name="adj" fmla="val 6061"/>
            </a:avLst>
          </a:prstGeom>
          <a:solidFill>
            <a:schemeClr val="tx2"/>
          </a:solidFill>
          <a:ln/>
        </p:spPr>
      </p:sp>
      <p:sp>
        <p:nvSpPr>
          <p:cNvPr id="19" name="Text 17"/>
          <p:cNvSpPr txBox="1"/>
          <p:nvPr/>
        </p:nvSpPr>
        <p:spPr>
          <a:xfrm>
            <a:off x="822960" y="4050792"/>
            <a:ext cx="201168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Same daily logs</a:t>
            </a:r>
            <a:endParaRPr lang="en-US" sz="1800" dirty="0"/>
          </a:p>
        </p:txBody>
      </p:sp>
      <p:sp>
        <p:nvSpPr>
          <p:cNvPr id="20" name="Text 18"/>
          <p:cNvSpPr txBox="1"/>
          <p:nvPr/>
        </p:nvSpPr>
        <p:spPr>
          <a:xfrm>
            <a:off x="822960" y="4507992"/>
            <a:ext cx="2011680" cy="822960"/>
          </a:xfrm>
          <a:prstGeom prst="rect">
            <a:avLst/>
          </a:prstGeom>
          <a:noFill/>
          <a:ln/>
        </p:spPr>
        <p:txBody>
          <a:bodyPr wrap="square" lIns="0" tIns="0" rIns="0" bIns="0" rtlCol="0" anchor="t"/>
          <a:lstStyle/>
          <a:p>
            <a:pPr indent="0" marL="0">
              <a:buNone/>
            </a:pPr>
            <a:r>
              <a:rPr lang="en-US" sz="1400" dirty="0">
                <a:solidFill>
                  <a:schemeClr val="accent6"/>
                </a:solidFill>
              </a:rPr>
              <a:t>One patient's history</a:t>
            </a:r>
            <a:endParaRPr lang="en-US" sz="1400" dirty="0"/>
          </a:p>
        </p:txBody>
      </p:sp>
      <p:sp>
        <p:nvSpPr>
          <p:cNvPr id="21" name="Trigger detective"/>
          <p:cNvSpPr/>
          <p:nvPr/>
        </p:nvSpPr>
        <p:spPr>
          <a:xfrm>
            <a:off x="3474720" y="3886200"/>
            <a:ext cx="2377440" cy="1508760"/>
          </a:xfrm>
          <a:prstGeom prst="roundRect">
            <a:avLst>
              <a:gd name="adj" fmla="val 6061"/>
            </a:avLst>
          </a:prstGeom>
          <a:solidFill>
            <a:schemeClr val="accent1"/>
          </a:solidFill>
          <a:ln/>
        </p:spPr>
      </p:sp>
      <p:sp>
        <p:nvSpPr>
          <p:cNvPr id="22" name="Text 20"/>
          <p:cNvSpPr txBox="1"/>
          <p:nvPr/>
        </p:nvSpPr>
        <p:spPr>
          <a:xfrm>
            <a:off x="3657600" y="4050792"/>
            <a:ext cx="2011680" cy="411480"/>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Trigger detective</a:t>
            </a:r>
            <a:endParaRPr lang="en-US" sz="1800" dirty="0"/>
          </a:p>
        </p:txBody>
      </p:sp>
      <p:sp>
        <p:nvSpPr>
          <p:cNvPr id="23" name="Text 21"/>
          <p:cNvSpPr txBox="1"/>
          <p:nvPr/>
        </p:nvSpPr>
        <p:spPr>
          <a:xfrm>
            <a:off x="3657600" y="4507992"/>
            <a:ext cx="2011680" cy="822960"/>
          </a:xfrm>
          <a:prstGeom prst="rect">
            <a:avLst/>
          </a:prstGeom>
          <a:noFill/>
          <a:ln/>
        </p:spPr>
        <p:txBody>
          <a:bodyPr wrap="square" lIns="0" tIns="0" rIns="0" bIns="0" rtlCol="0" anchor="t"/>
          <a:lstStyle/>
          <a:p>
            <a:pPr indent="0" marL="0">
              <a:buNone/>
            </a:pPr>
            <a:r>
              <a:rPr lang="en-US" sz="1400" dirty="0">
                <a:solidFill>
                  <a:schemeClr val="bg2"/>
                </a:solidFill>
              </a:rPr>
              <a:t>Lagged regression per patient, corrected for repeat testing</a:t>
            </a:r>
            <a:endParaRPr lang="en-US" sz="1400" dirty="0"/>
          </a:p>
        </p:txBody>
      </p:sp>
      <p:sp>
        <p:nvSpPr>
          <p:cNvPr id="24" name="Personal triggers"/>
          <p:cNvSpPr/>
          <p:nvPr/>
        </p:nvSpPr>
        <p:spPr>
          <a:xfrm>
            <a:off x="6309360" y="3886200"/>
            <a:ext cx="2377440" cy="1508760"/>
          </a:xfrm>
          <a:prstGeom prst="roundRect">
            <a:avLst>
              <a:gd name="adj" fmla="val 6061"/>
            </a:avLst>
          </a:prstGeom>
          <a:solidFill>
            <a:schemeClr val="bg2"/>
          </a:solidFill>
          <a:ln/>
        </p:spPr>
      </p:sp>
      <p:sp>
        <p:nvSpPr>
          <p:cNvPr id="25" name="Text 23"/>
          <p:cNvSpPr txBox="1"/>
          <p:nvPr/>
        </p:nvSpPr>
        <p:spPr>
          <a:xfrm>
            <a:off x="6492240" y="4050792"/>
            <a:ext cx="2011680" cy="41148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Personal triggers</a:t>
            </a:r>
            <a:endParaRPr lang="en-US" sz="1800" dirty="0"/>
          </a:p>
        </p:txBody>
      </p:sp>
      <p:sp>
        <p:nvSpPr>
          <p:cNvPr id="26" name="Text 24"/>
          <p:cNvSpPr txBox="1"/>
          <p:nvPr/>
        </p:nvSpPr>
        <p:spPr>
          <a:xfrm>
            <a:off x="6492240" y="4507992"/>
            <a:ext cx="2011680" cy="822960"/>
          </a:xfrm>
          <a:prstGeom prst="rect">
            <a:avLst/>
          </a:prstGeom>
          <a:noFill/>
          <a:ln/>
        </p:spPr>
        <p:txBody>
          <a:bodyPr wrap="square" lIns="0" tIns="0" rIns="0" bIns="0" rtlCol="0" anchor="t"/>
          <a:lstStyle/>
          <a:p>
            <a:pPr indent="0" marL="0">
              <a:buNone/>
            </a:pPr>
            <a:r>
              <a:rPr lang="en-US" sz="1400" dirty="0">
                <a:solidFill>
                  <a:schemeClr val="accent5"/>
                </a:solidFill>
              </a:rPr>
              <a:t>Factor, delay in days, size of effect</a:t>
            </a:r>
            <a:endParaRPr lang="en-US" sz="1400" dirty="0"/>
          </a:p>
        </p:txBody>
      </p:sp>
      <p:sp>
        <p:nvSpPr>
          <p:cNvPr id="27" name="arrow"/>
          <p:cNvSpPr/>
          <p:nvPr/>
        </p:nvSpPr>
        <p:spPr>
          <a:xfrm>
            <a:off x="3063240" y="4640580"/>
            <a:ext cx="365760" cy="0"/>
          </a:xfrm>
          <a:prstGeom prst="line">
            <a:avLst/>
          </a:prstGeom>
          <a:noFill/>
          <a:ln w="25400">
            <a:solidFill>
              <a:schemeClr val="accent5"/>
            </a:solidFill>
            <a:prstDash val="solid"/>
            <a:tailEnd type="triangle"/>
          </a:ln>
        </p:spPr>
      </p:sp>
      <p:sp>
        <p:nvSpPr>
          <p:cNvPr id="28" name="arrow"/>
          <p:cNvSpPr/>
          <p:nvPr/>
        </p:nvSpPr>
        <p:spPr>
          <a:xfrm>
            <a:off x="5897880" y="4640580"/>
            <a:ext cx="365760" cy="0"/>
          </a:xfrm>
          <a:prstGeom prst="line">
            <a:avLst/>
          </a:prstGeom>
          <a:noFill/>
          <a:ln w="25400">
            <a:solidFill>
              <a:schemeClr val="accent5"/>
            </a:solidFill>
            <a:prstDash val="solid"/>
            <a:tailEnd type="triangle"/>
          </a:ln>
        </p:spPr>
      </p:sp>
      <p:sp>
        <p:nvSpPr>
          <p:cNvPr id="29" name="Text 27"/>
          <p:cNvSpPr txBox="1"/>
          <p:nvPr/>
        </p:nvSpPr>
        <p:spPr>
          <a:xfrm>
            <a:off x="640080" y="3246120"/>
            <a:ext cx="5486400" cy="365760"/>
          </a:xfrm>
          <a:prstGeom prst="rect">
            <a:avLst/>
          </a:prstGeom>
          <a:noFill/>
          <a:ln/>
        </p:spPr>
        <p:txBody>
          <a:bodyPr wrap="square" lIns="0" tIns="0" rIns="0" bIns="0" rtlCol="0" anchor="t"/>
          <a:lstStyle/>
          <a:p>
            <a:pPr indent="0" marL="0">
              <a:buNone/>
            </a:pPr>
            <a:r>
              <a:rPr lang="en-US" sz="1400" b="1" dirty="0">
                <a:solidFill>
                  <a:schemeClr val="accent5"/>
                </a:solidFill>
              </a:rPr>
              <a:t>Question 1: what is coming?</a:t>
            </a:r>
            <a:endParaRPr lang="en-US" sz="1400" dirty="0"/>
          </a:p>
        </p:txBody>
      </p:sp>
      <p:sp>
        <p:nvSpPr>
          <p:cNvPr id="30" name="Text 28"/>
          <p:cNvSpPr txBox="1"/>
          <p:nvPr/>
        </p:nvSpPr>
        <p:spPr>
          <a:xfrm>
            <a:off x="640080" y="5577840"/>
            <a:ext cx="5486400" cy="365760"/>
          </a:xfrm>
          <a:prstGeom prst="rect">
            <a:avLst/>
          </a:prstGeom>
          <a:noFill/>
          <a:ln/>
        </p:spPr>
        <p:txBody>
          <a:bodyPr wrap="square" lIns="0" tIns="0" rIns="0" bIns="0" rtlCol="0" anchor="t"/>
          <a:lstStyle/>
          <a:p>
            <a:pPr indent="0" marL="0">
              <a:buNone/>
            </a:pPr>
            <a:r>
              <a:rPr lang="en-US" sz="1400" b="1" dirty="0">
                <a:solidFill>
                  <a:schemeClr val="accent5"/>
                </a:solidFill>
              </a:rPr>
              <a:t>Question 2: what should I change?</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tx1"/>
                </a:solidFill>
              </a:rPr>
              <a:t>Better than today's symptoms alone</a:t>
            </a:r>
            <a:endParaRPr lang="en-US" sz="3600" dirty="0"/>
          </a:p>
        </p:txBody>
      </p:sp>
      <p:graphicFrame>
        <p:nvGraphicFramePr>
          <p:cNvPr id="3" name="Chart 0" descr=""/>
          <p:cNvGraphicFramePr/>
          <p:nvPr/>
        </p:nvGraphicFramePr>
        <p:xfrm>
          <a:off x="640080" y="1554480"/>
          <a:ext cx="5486400" cy="4206240"/>
        </p:xfrm>
        <a:graphic xmlns:a="http://schemas.openxmlformats.org/drawingml/2006/main">
          <a:graphicData uri="http://schemas.openxmlformats.org/drawingml/2006/chart">
            <c:chart xmlns:c="http://schemas.openxmlformats.org/drawingml/2006/chart" r:id="rId1"/>
          </a:graphicData>
        </a:graphic>
      </p:graphicFrame>
      <p:sp>
        <p:nvSpPr>
          <p:cNvPr id="4" name="Text 1"/>
          <p:cNvSpPr txBox="1"/>
          <p:nvPr/>
        </p:nvSpPr>
        <p:spPr>
          <a:xfrm>
            <a:off x="6675120" y="1645920"/>
            <a:ext cx="21031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98%</a:t>
            </a:r>
            <a:endParaRPr lang="en-US" sz="6000" dirty="0"/>
          </a:p>
        </p:txBody>
      </p:sp>
      <p:sp>
        <p:nvSpPr>
          <p:cNvPr id="5" name="Text 2"/>
          <p:cNvSpPr txBox="1"/>
          <p:nvPr/>
        </p:nvSpPr>
        <p:spPr>
          <a:xfrm>
            <a:off x="8869680" y="1645920"/>
            <a:ext cx="2743200" cy="1097280"/>
          </a:xfrm>
          <a:prstGeom prst="rect">
            <a:avLst/>
          </a:prstGeom>
          <a:noFill/>
          <a:ln/>
        </p:spPr>
        <p:txBody>
          <a:bodyPr wrap="square" lIns="0" tIns="0" rIns="0" bIns="0" rtlCol="0" anchor="ctr"/>
          <a:lstStyle/>
          <a:p>
            <a:pPr indent="0" marL="0">
              <a:buNone/>
            </a:pPr>
            <a:r>
              <a:rPr lang="en-US" sz="1600" dirty="0">
                <a:solidFill>
                  <a:schemeClr val="tx1"/>
                </a:solidFill>
              </a:rPr>
              <a:t>of detected triggers were real (precision)</a:t>
            </a:r>
            <a:endParaRPr lang="en-US" sz="1600" dirty="0"/>
          </a:p>
        </p:txBody>
      </p:sp>
      <p:sp>
        <p:nvSpPr>
          <p:cNvPr id="6" name="Text 3"/>
          <p:cNvSpPr txBox="1"/>
          <p:nvPr/>
        </p:nvSpPr>
        <p:spPr>
          <a:xfrm>
            <a:off x="6675120" y="3017520"/>
            <a:ext cx="21031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95%</a:t>
            </a:r>
            <a:endParaRPr lang="en-US" sz="6000" dirty="0"/>
          </a:p>
        </p:txBody>
      </p:sp>
      <p:sp>
        <p:nvSpPr>
          <p:cNvPr id="7" name="Text 4"/>
          <p:cNvSpPr txBox="1"/>
          <p:nvPr/>
        </p:nvSpPr>
        <p:spPr>
          <a:xfrm>
            <a:off x="8869680" y="3017520"/>
            <a:ext cx="2743200" cy="1097280"/>
          </a:xfrm>
          <a:prstGeom prst="rect">
            <a:avLst/>
          </a:prstGeom>
          <a:noFill/>
          <a:ln/>
        </p:spPr>
        <p:txBody>
          <a:bodyPr wrap="square" lIns="0" tIns="0" rIns="0" bIns="0" rtlCol="0" anchor="ctr"/>
          <a:lstStyle/>
          <a:p>
            <a:pPr indent="0" marL="0">
              <a:buNone/>
            </a:pPr>
            <a:r>
              <a:rPr lang="en-US" sz="1600" dirty="0">
                <a:solidFill>
                  <a:schemeClr val="tx1"/>
                </a:solidFill>
              </a:rPr>
              <a:t>of planted triggers were found (recall)</a:t>
            </a:r>
            <a:endParaRPr lang="en-US" sz="1600" dirty="0"/>
          </a:p>
        </p:txBody>
      </p:sp>
      <p:sp>
        <p:nvSpPr>
          <p:cNvPr id="8" name="Text 5"/>
          <p:cNvSpPr txBox="1"/>
          <p:nvPr/>
        </p:nvSpPr>
        <p:spPr>
          <a:xfrm>
            <a:off x="6675120" y="4389120"/>
            <a:ext cx="2103120" cy="109728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100%</a:t>
            </a:r>
            <a:endParaRPr lang="en-US" sz="6000" dirty="0"/>
          </a:p>
        </p:txBody>
      </p:sp>
      <p:sp>
        <p:nvSpPr>
          <p:cNvPr id="9" name="Text 6"/>
          <p:cNvSpPr txBox="1"/>
          <p:nvPr/>
        </p:nvSpPr>
        <p:spPr>
          <a:xfrm>
            <a:off x="8869680" y="4389120"/>
            <a:ext cx="2743200" cy="1097280"/>
          </a:xfrm>
          <a:prstGeom prst="rect">
            <a:avLst/>
          </a:prstGeom>
          <a:noFill/>
          <a:ln/>
        </p:spPr>
        <p:txBody>
          <a:bodyPr wrap="square" lIns="0" tIns="0" rIns="0" bIns="0" rtlCol="0" anchor="ctr"/>
          <a:lstStyle/>
          <a:p>
            <a:pPr indent="0" marL="0">
              <a:buNone/>
            </a:pPr>
            <a:r>
              <a:rPr lang="en-US" sz="1600" dirty="0">
                <a:solidFill>
                  <a:schemeClr val="tx1"/>
                </a:solidFill>
              </a:rPr>
              <a:t>of correct triggers had the right delay</a:t>
            </a:r>
            <a:endParaRPr lang="en-US" sz="1600" dirty="0"/>
          </a:p>
        </p:txBody>
      </p:sp>
      <p:sp>
        <p:nvSpPr>
          <p:cNvPr id="10" name="Text 7"/>
          <p:cNvSpPr txBox="1"/>
          <p:nvPr/>
        </p:nvSpPr>
        <p:spPr>
          <a:xfrm>
            <a:off x="640080" y="6035040"/>
            <a:ext cx="10881360" cy="365760"/>
          </a:xfrm>
          <a:prstGeom prst="rect">
            <a:avLst/>
          </a:prstGeom>
          <a:noFill/>
          <a:ln/>
        </p:spPr>
        <p:txBody>
          <a:bodyPr wrap="square" lIns="0" tIns="0" rIns="0" bIns="0" rtlCol="0" anchor="t"/>
          <a:lstStyle/>
          <a:p>
            <a:pPr indent="0" marL="0">
              <a:buNone/>
            </a:pPr>
            <a:r>
              <a:rPr lang="en-US" sz="1200" dirty="0">
                <a:solidFill>
                  <a:schemeClr val="accent5"/>
                </a:solidFill>
              </a:rPr>
              <a:t>Synthetic data, seed 42. AUC measured on 15 patients the model never saw; trigger results across 30 patients.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tx1"/>
                </a:solidFill>
              </a:rPr>
              <a:t>What the dashboard shows</a:t>
            </a:r>
            <a:endParaRPr lang="en-US" sz="3600" dirty="0"/>
          </a:p>
        </p:txBody>
      </p:sp>
      <p:sp>
        <p:nvSpPr>
          <p:cNvPr id="3" name="demo card 1"/>
          <p:cNvSpPr/>
          <p:nvPr/>
        </p:nvSpPr>
        <p:spPr>
          <a:xfrm>
            <a:off x="640080" y="1554480"/>
            <a:ext cx="5303520" cy="1965960"/>
          </a:xfrm>
          <a:prstGeom prst="roundRect">
            <a:avLst>
              <a:gd name="adj" fmla="val 5581"/>
            </a:avLst>
          </a:prstGeom>
          <a:solidFill>
            <a:schemeClr val="bg2"/>
          </a:solidFill>
          <a:ln/>
        </p:spPr>
      </p:sp>
      <p:sp>
        <p:nvSpPr>
          <p:cNvPr id="4" name="Risk today circle"/>
          <p:cNvSpPr/>
          <p:nvPr/>
        </p:nvSpPr>
        <p:spPr>
          <a:xfrm>
            <a:off x="960120" y="1874520"/>
            <a:ext cx="731520" cy="731520"/>
          </a:xfrm>
          <a:prstGeom prst="ellipse">
            <a:avLst/>
          </a:prstGeom>
          <a:solidFill>
            <a:schemeClr val="accent1"/>
          </a:solidFill>
          <a:ln/>
        </p:spPr>
      </p:sp>
      <p:pic>
        <p:nvPicPr>
          <p:cNvPr id="5" name="Image 0" descr="Risk today">    </p:cNvPr>
          <p:cNvPicPr>
            <a:picLocks noChangeAspect="1"/>
          </p:cNvPicPr>
          <p:nvPr/>
        </p:nvPicPr>
        <p:blipFill>
          <a:blip r:embed="rId1"/>
          <a:stretch>
            <a:fillRect/>
          </a:stretch>
        </p:blipFill>
        <p:spPr>
          <a:xfrm>
            <a:off x="1143000" y="2057400"/>
            <a:ext cx="365760" cy="365760"/>
          </a:xfrm>
          <a:prstGeom prst="rect">
            <a:avLst/>
          </a:prstGeom>
        </p:spPr>
      </p:pic>
      <p:sp>
        <p:nvSpPr>
          <p:cNvPr id="6" name="Text 3"/>
          <p:cNvSpPr txBox="1"/>
          <p:nvPr/>
        </p:nvSpPr>
        <p:spPr>
          <a:xfrm>
            <a:off x="1920240" y="1828800"/>
            <a:ext cx="38404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Risk today</a:t>
            </a:r>
            <a:endParaRPr lang="en-US" sz="2000" dirty="0"/>
          </a:p>
        </p:txBody>
      </p:sp>
      <p:sp>
        <p:nvSpPr>
          <p:cNvPr id="7" name="Text 4"/>
          <p:cNvSpPr txBox="1"/>
          <p:nvPr/>
        </p:nvSpPr>
        <p:spPr>
          <a:xfrm>
            <a:off x="1920240" y="2377440"/>
            <a:ext cx="3840480" cy="1005840"/>
          </a:xfrm>
          <a:prstGeom prst="rect">
            <a:avLst/>
          </a:prstGeom>
          <a:noFill/>
          <a:ln/>
        </p:spPr>
        <p:txBody>
          <a:bodyPr wrap="square" lIns="0" tIns="0" rIns="0" bIns="0" rtlCol="0" anchor="t"/>
          <a:lstStyle/>
          <a:p>
            <a:pPr indent="0" marL="0">
              <a:buNone/>
            </a:pPr>
            <a:r>
              <a:rPr lang="en-US" sz="1500" dirty="0">
                <a:solidFill>
                  <a:schemeClr val="accent5"/>
                </a:solidFill>
              </a:rPr>
              <a:t>A large percentage with a Low, Moderate or High band, and a trend over the last two months.</a:t>
            </a:r>
            <a:endParaRPr lang="en-US" sz="1500" dirty="0"/>
          </a:p>
        </p:txBody>
      </p:sp>
      <p:sp>
        <p:nvSpPr>
          <p:cNvPr id="8" name="demo card 2"/>
          <p:cNvSpPr/>
          <p:nvPr/>
        </p:nvSpPr>
        <p:spPr>
          <a:xfrm>
            <a:off x="6217920" y="1554480"/>
            <a:ext cx="5303520" cy="1965960"/>
          </a:xfrm>
          <a:prstGeom prst="roundRect">
            <a:avLst>
              <a:gd name="adj" fmla="val 5581"/>
            </a:avLst>
          </a:prstGeom>
          <a:solidFill>
            <a:schemeClr val="bg2"/>
          </a:solidFill>
          <a:ln/>
        </p:spPr>
      </p:sp>
      <p:sp>
        <p:nvSpPr>
          <p:cNvPr id="9" name="What is driving it circle"/>
          <p:cNvSpPr/>
          <p:nvPr/>
        </p:nvSpPr>
        <p:spPr>
          <a:xfrm>
            <a:off x="6537960" y="1874520"/>
            <a:ext cx="731520" cy="731520"/>
          </a:xfrm>
          <a:prstGeom prst="ellipse">
            <a:avLst/>
          </a:prstGeom>
          <a:solidFill>
            <a:schemeClr val="accent1"/>
          </a:solidFill>
          <a:ln/>
        </p:spPr>
      </p:sp>
      <p:pic>
        <p:nvPicPr>
          <p:cNvPr id="10" name="Image 1" descr="What is driving it">    </p:cNvPr>
          <p:cNvPicPr>
            <a:picLocks noChangeAspect="1"/>
          </p:cNvPicPr>
          <p:nvPr/>
        </p:nvPicPr>
        <p:blipFill>
          <a:blip r:embed="rId2"/>
          <a:stretch>
            <a:fillRect/>
          </a:stretch>
        </p:blipFill>
        <p:spPr>
          <a:xfrm>
            <a:off x="6720840" y="2057400"/>
            <a:ext cx="365760" cy="365760"/>
          </a:xfrm>
          <a:prstGeom prst="rect">
            <a:avLst/>
          </a:prstGeom>
        </p:spPr>
      </p:pic>
      <p:sp>
        <p:nvSpPr>
          <p:cNvPr id="11" name="Text 7"/>
          <p:cNvSpPr txBox="1"/>
          <p:nvPr/>
        </p:nvSpPr>
        <p:spPr>
          <a:xfrm>
            <a:off x="7498080" y="1828800"/>
            <a:ext cx="38404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is driving it</a:t>
            </a:r>
            <a:endParaRPr lang="en-US" sz="2000" dirty="0"/>
          </a:p>
        </p:txBody>
      </p:sp>
      <p:sp>
        <p:nvSpPr>
          <p:cNvPr id="12" name="Text 8"/>
          <p:cNvSpPr txBox="1"/>
          <p:nvPr/>
        </p:nvSpPr>
        <p:spPr>
          <a:xfrm>
            <a:off x="7498080" y="2377440"/>
            <a:ext cx="3840480" cy="1005840"/>
          </a:xfrm>
          <a:prstGeom prst="rect">
            <a:avLst/>
          </a:prstGeom>
          <a:noFill/>
          <a:ln/>
        </p:spPr>
        <p:txBody>
          <a:bodyPr wrap="square" lIns="0" tIns="0" rIns="0" bIns="0" rtlCol="0" anchor="t"/>
          <a:lstStyle/>
          <a:p>
            <a:pPr indent="0" marL="0">
              <a:buNone/>
            </a:pPr>
            <a:r>
              <a:rPr lang="en-US" sz="1500" dirty="0">
                <a:solidFill>
                  <a:schemeClr val="accent5"/>
                </a:solidFill>
              </a:rPr>
              <a:t>Bars for dairy, alcohol, stress, sleep, medication and more, against an average day.</a:t>
            </a:r>
            <a:endParaRPr lang="en-US" sz="1500" dirty="0"/>
          </a:p>
        </p:txBody>
      </p:sp>
      <p:sp>
        <p:nvSpPr>
          <p:cNvPr id="13" name="demo card 3"/>
          <p:cNvSpPr/>
          <p:nvPr/>
        </p:nvSpPr>
        <p:spPr>
          <a:xfrm>
            <a:off x="640080" y="3794760"/>
            <a:ext cx="5303520" cy="1965960"/>
          </a:xfrm>
          <a:prstGeom prst="roundRect">
            <a:avLst>
              <a:gd name="adj" fmla="val 5581"/>
            </a:avLst>
          </a:prstGeom>
          <a:solidFill>
            <a:schemeClr val="bg2"/>
          </a:solidFill>
          <a:ln/>
        </p:spPr>
      </p:sp>
      <p:sp>
        <p:nvSpPr>
          <p:cNvPr id="14" name="What changed since yesterday circle"/>
          <p:cNvSpPr/>
          <p:nvPr/>
        </p:nvSpPr>
        <p:spPr>
          <a:xfrm>
            <a:off x="960120" y="4114800"/>
            <a:ext cx="731520" cy="731520"/>
          </a:xfrm>
          <a:prstGeom prst="ellipse">
            <a:avLst/>
          </a:prstGeom>
          <a:solidFill>
            <a:schemeClr val="accent1"/>
          </a:solidFill>
          <a:ln/>
        </p:spPr>
      </p:sp>
      <p:pic>
        <p:nvPicPr>
          <p:cNvPr id="15" name="Image 2" descr="What changed since yesterday">    </p:cNvPr>
          <p:cNvPicPr>
            <a:picLocks noChangeAspect="1"/>
          </p:cNvPicPr>
          <p:nvPr/>
        </p:nvPicPr>
        <p:blipFill>
          <a:blip r:embed="rId3"/>
          <a:stretch>
            <a:fillRect/>
          </a:stretch>
        </p:blipFill>
        <p:spPr>
          <a:xfrm>
            <a:off x="1143000" y="4297680"/>
            <a:ext cx="365760" cy="365760"/>
          </a:xfrm>
          <a:prstGeom prst="rect">
            <a:avLst/>
          </a:prstGeom>
        </p:spPr>
      </p:pic>
      <p:sp>
        <p:nvSpPr>
          <p:cNvPr id="16" name="Text 11"/>
          <p:cNvSpPr txBox="1"/>
          <p:nvPr/>
        </p:nvSpPr>
        <p:spPr>
          <a:xfrm>
            <a:off x="1920240" y="4069080"/>
            <a:ext cx="38404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What changed since yesterday</a:t>
            </a:r>
            <a:endParaRPr lang="en-US" sz="2000" dirty="0"/>
          </a:p>
        </p:txBody>
      </p:sp>
      <p:sp>
        <p:nvSpPr>
          <p:cNvPr id="17" name="Text 12"/>
          <p:cNvSpPr txBox="1"/>
          <p:nvPr/>
        </p:nvSpPr>
        <p:spPr>
          <a:xfrm>
            <a:off x="1920240" y="4617720"/>
            <a:ext cx="3840480" cy="1005840"/>
          </a:xfrm>
          <a:prstGeom prst="rect">
            <a:avLst/>
          </a:prstGeom>
          <a:noFill/>
          <a:ln/>
        </p:spPr>
        <p:txBody>
          <a:bodyPr wrap="square" lIns="0" tIns="0" rIns="0" bIns="0" rtlCol="0" anchor="t"/>
          <a:lstStyle/>
          <a:p>
            <a:pPr indent="0" marL="0">
              <a:buNone/>
            </a:pPr>
            <a:r>
              <a:rPr lang="en-US" sz="1500" dirty="0">
                <a:solidFill>
                  <a:schemeClr val="accent5"/>
                </a:solidFill>
              </a:rPr>
              <a:t>The same factors as a day-over-day difference, so a jump has a reason.</a:t>
            </a:r>
            <a:endParaRPr lang="en-US" sz="1500" dirty="0"/>
          </a:p>
        </p:txBody>
      </p:sp>
      <p:sp>
        <p:nvSpPr>
          <p:cNvPr id="18" name="demo card 4"/>
          <p:cNvSpPr/>
          <p:nvPr/>
        </p:nvSpPr>
        <p:spPr>
          <a:xfrm>
            <a:off x="6217920" y="3794760"/>
            <a:ext cx="5303520" cy="1965960"/>
          </a:xfrm>
          <a:prstGeom prst="roundRect">
            <a:avLst>
              <a:gd name="adj" fmla="val 5581"/>
            </a:avLst>
          </a:prstGeom>
          <a:solidFill>
            <a:schemeClr val="bg2"/>
          </a:solidFill>
          <a:ln/>
        </p:spPr>
      </p:sp>
      <p:sp>
        <p:nvSpPr>
          <p:cNvPr id="19" name="Likely triggers circle"/>
          <p:cNvSpPr/>
          <p:nvPr/>
        </p:nvSpPr>
        <p:spPr>
          <a:xfrm>
            <a:off x="6537960" y="4114800"/>
            <a:ext cx="731520" cy="731520"/>
          </a:xfrm>
          <a:prstGeom prst="ellipse">
            <a:avLst/>
          </a:prstGeom>
          <a:solidFill>
            <a:schemeClr val="accent1"/>
          </a:solidFill>
          <a:ln/>
        </p:spPr>
      </p:sp>
      <p:pic>
        <p:nvPicPr>
          <p:cNvPr id="20" name="Image 3" descr="Likely triggers">    </p:cNvPr>
          <p:cNvPicPr>
            <a:picLocks noChangeAspect="1"/>
          </p:cNvPicPr>
          <p:nvPr/>
        </p:nvPicPr>
        <p:blipFill>
          <a:blip r:embed="rId4"/>
          <a:stretch>
            <a:fillRect/>
          </a:stretch>
        </p:blipFill>
        <p:spPr>
          <a:xfrm>
            <a:off x="6720840" y="4297680"/>
            <a:ext cx="365760" cy="365760"/>
          </a:xfrm>
          <a:prstGeom prst="rect">
            <a:avLst/>
          </a:prstGeom>
        </p:spPr>
      </p:pic>
      <p:sp>
        <p:nvSpPr>
          <p:cNvPr id="21" name="Text 15"/>
          <p:cNvSpPr txBox="1"/>
          <p:nvPr/>
        </p:nvSpPr>
        <p:spPr>
          <a:xfrm>
            <a:off x="7498080" y="4069080"/>
            <a:ext cx="3840480" cy="457200"/>
          </a:xfrm>
          <a:prstGeom prst="rect">
            <a:avLst/>
          </a:prstGeom>
          <a:noFill/>
          <a:ln/>
        </p:spPr>
        <p:txBody>
          <a:bodyPr wrap="square" lIns="0" tIns="0" rIns="0" bIns="0" rtlCol="0" anchor="t"/>
          <a:lstStyle/>
          <a:p>
            <a:pPr indent="0" marL="0">
              <a:buNone/>
            </a:pPr>
            <a:r>
              <a:rPr lang="en-US" sz="2000" b="1" dirty="0">
                <a:solidFill>
                  <a:schemeClr val="tx1"/>
                </a:solidFill>
                <a:latin typeface="Cambria" pitchFamily="34" charset="0"/>
                <a:ea typeface="Cambria" pitchFamily="34" charset="-122"/>
                <a:cs typeface="Cambria" pitchFamily="34" charset="-120"/>
              </a:rPr>
              <a:t>Likely triggers</a:t>
            </a:r>
            <a:endParaRPr lang="en-US" sz="2000" dirty="0"/>
          </a:p>
        </p:txBody>
      </p:sp>
      <p:sp>
        <p:nvSpPr>
          <p:cNvPr id="22" name="Text 16"/>
          <p:cNvSpPr txBox="1"/>
          <p:nvPr/>
        </p:nvSpPr>
        <p:spPr>
          <a:xfrm>
            <a:off x="7498080" y="4617720"/>
            <a:ext cx="3840480" cy="1005840"/>
          </a:xfrm>
          <a:prstGeom prst="rect">
            <a:avLst/>
          </a:prstGeom>
          <a:noFill/>
          <a:ln/>
        </p:spPr>
        <p:txBody>
          <a:bodyPr wrap="square" lIns="0" tIns="0" rIns="0" bIns="0" rtlCol="0" anchor="t"/>
          <a:lstStyle/>
          <a:p>
            <a:pPr indent="0" marL="0">
              <a:buNone/>
            </a:pPr>
            <a:r>
              <a:rPr lang="en-US" sz="1500" dirty="0">
                <a:solidFill>
                  <a:schemeClr val="accent5"/>
                </a:solidFill>
              </a:rPr>
              <a:t>Plain-language findings, checked live against the triggers planted in the data.</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hasCustomPrompt="1"/>
          </p:nvPr>
        </p:nvSpPr>
        <p:spPr>
          <a:xfrm>
            <a:off x="640080" y="411480"/>
            <a:ext cx="10881360" cy="914400"/>
          </a:xfrm>
          <a:prstGeom prst="rect">
            <a:avLst/>
          </a:prstGeom>
          <a:noFill/>
          <a:ln/>
        </p:spPr>
        <p:txBody>
          <a:bodyPr wrap="square" lIns="0" tIns="0" rIns="0" bIns="0" rtlCol="0" anchor="ctr"/>
          <a:lstStyle/>
          <a:p>
            <a:pPr indent="0" marL="0">
              <a:buNone/>
            </a:pPr>
            <a:r>
              <a:rPr lang="en-US" sz="3600" b="1" dirty="0">
                <a:solidFill>
                  <a:schemeClr val="bg1"/>
                </a:solidFill>
              </a:rPr>
              <a:t>What this is, and what it isn't</a:t>
            </a:r>
            <a:endParaRPr lang="en-US" sz="3600" dirty="0"/>
          </a:p>
        </p:txBody>
      </p:sp>
      <p:sp>
        <p:nvSpPr>
          <p:cNvPr id="3" name="Limits card"/>
          <p:cNvSpPr/>
          <p:nvPr/>
        </p:nvSpPr>
        <p:spPr>
          <a:xfrm>
            <a:off x="640080" y="1645920"/>
            <a:ext cx="5303520" cy="3566160"/>
          </a:xfrm>
          <a:prstGeom prst="roundRect">
            <a:avLst>
              <a:gd name="adj" fmla="val 3077"/>
            </a:avLst>
          </a:prstGeom>
          <a:solidFill>
            <a:schemeClr val="tx2"/>
          </a:solidFill>
          <a:ln/>
        </p:spPr>
      </p:sp>
      <p:sp>
        <p:nvSpPr>
          <p:cNvPr id="4" name="Limits circle"/>
          <p:cNvSpPr/>
          <p:nvPr/>
        </p:nvSpPr>
        <p:spPr>
          <a:xfrm>
            <a:off x="1005840" y="1965960"/>
            <a:ext cx="731520" cy="731520"/>
          </a:xfrm>
          <a:prstGeom prst="ellipse">
            <a:avLst/>
          </a:prstGeom>
          <a:solidFill>
            <a:schemeClr val="accent4"/>
          </a:solidFill>
          <a:ln/>
        </p:spPr>
      </p:sp>
      <p:pic>
        <p:nvPicPr>
          <p:cNvPr id="5" name="Image 0" descr="Limits">    </p:cNvPr>
          <p:cNvPicPr>
            <a:picLocks noChangeAspect="1"/>
          </p:cNvPicPr>
          <p:nvPr/>
        </p:nvPicPr>
        <p:blipFill>
          <a:blip r:embed="rId1"/>
          <a:stretch>
            <a:fillRect/>
          </a:stretch>
        </p:blipFill>
        <p:spPr>
          <a:xfrm>
            <a:off x="1188720" y="2148840"/>
            <a:ext cx="365760" cy="365760"/>
          </a:xfrm>
          <a:prstGeom prst="rect">
            <a:avLst/>
          </a:prstGeom>
        </p:spPr>
      </p:pic>
      <p:sp>
        <p:nvSpPr>
          <p:cNvPr id="6" name="Text 3"/>
          <p:cNvSpPr txBox="1"/>
          <p:nvPr/>
        </p:nvSpPr>
        <p:spPr>
          <a:xfrm>
            <a:off x="1965960" y="2011680"/>
            <a:ext cx="3200400" cy="64008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Limits</a:t>
            </a:r>
            <a:endParaRPr lang="en-US" sz="2400" dirty="0"/>
          </a:p>
        </p:txBody>
      </p:sp>
      <p:sp>
        <p:nvSpPr>
          <p:cNvPr id="7" name="Text 4"/>
          <p:cNvSpPr txBox="1"/>
          <p:nvPr/>
        </p:nvSpPr>
        <p:spPr>
          <a:xfrm>
            <a:off x="1051560" y="2926080"/>
            <a:ext cx="4480560" cy="2103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All data is synthetic: results show the method works, not clinical accuracy.</a:t>
            </a:r>
            <a:endParaRPr lang="en-US" sz="1800" dirty="0"/>
          </a:p>
          <a:p>
            <a:pPr marL="342900" indent="-342900">
              <a:spcAft>
                <a:spcPts val="1000"/>
              </a:spcAft>
              <a:buSzPct val="100000"/>
              <a:buChar char="•"/>
            </a:pPr>
            <a:r>
              <a:rPr lang="en-US" sz="1800" dirty="0">
                <a:solidFill>
                  <a:schemeClr val="bg1"/>
                </a:solidFill>
              </a:rPr>
              <a:t>Trigger detection is evidence from timing and adjustment, not a randomized proof.</a:t>
            </a:r>
            <a:endParaRPr lang="en-US" sz="1800" dirty="0"/>
          </a:p>
          <a:p>
            <a:pPr marL="342900" indent="-342900">
              <a:spcAft>
                <a:spcPts val="1000"/>
              </a:spcAft>
              <a:buSzPct val="100000"/>
              <a:buChar char="•"/>
            </a:pPr>
            <a:r>
              <a:rPr lang="en-US" sz="1800" dirty="0">
                <a:solidFill>
                  <a:schemeClr val="bg1"/>
                </a:solidFill>
              </a:rPr>
              <a:t>Not medical advice.</a:t>
            </a:r>
            <a:endParaRPr lang="en-US" sz="1800" dirty="0"/>
          </a:p>
        </p:txBody>
      </p:sp>
      <p:sp>
        <p:nvSpPr>
          <p:cNvPr id="8" name="Next steps card"/>
          <p:cNvSpPr/>
          <p:nvPr/>
        </p:nvSpPr>
        <p:spPr>
          <a:xfrm>
            <a:off x="6217920" y="1645920"/>
            <a:ext cx="5303520" cy="3566160"/>
          </a:xfrm>
          <a:prstGeom prst="roundRect">
            <a:avLst>
              <a:gd name="adj" fmla="val 3077"/>
            </a:avLst>
          </a:prstGeom>
          <a:solidFill>
            <a:schemeClr val="tx2"/>
          </a:solidFill>
          <a:ln/>
        </p:spPr>
      </p:sp>
      <p:sp>
        <p:nvSpPr>
          <p:cNvPr id="9" name="Next steps circle"/>
          <p:cNvSpPr/>
          <p:nvPr/>
        </p:nvSpPr>
        <p:spPr>
          <a:xfrm>
            <a:off x="6583680" y="1965960"/>
            <a:ext cx="731520" cy="731520"/>
          </a:xfrm>
          <a:prstGeom prst="ellipse">
            <a:avLst/>
          </a:prstGeom>
          <a:solidFill>
            <a:schemeClr val="accent4"/>
          </a:solidFill>
          <a:ln/>
        </p:spPr>
      </p:sp>
      <p:pic>
        <p:nvPicPr>
          <p:cNvPr id="10" name="Image 1" descr="Next steps">    </p:cNvPr>
          <p:cNvPicPr>
            <a:picLocks noChangeAspect="1"/>
          </p:cNvPicPr>
          <p:nvPr/>
        </p:nvPicPr>
        <p:blipFill>
          <a:blip r:embed="rId2"/>
          <a:stretch>
            <a:fillRect/>
          </a:stretch>
        </p:blipFill>
        <p:spPr>
          <a:xfrm>
            <a:off x="6766560" y="2148840"/>
            <a:ext cx="365760" cy="365760"/>
          </a:xfrm>
          <a:prstGeom prst="rect">
            <a:avLst/>
          </a:prstGeom>
        </p:spPr>
      </p:pic>
      <p:sp>
        <p:nvSpPr>
          <p:cNvPr id="11" name="Text 7"/>
          <p:cNvSpPr txBox="1"/>
          <p:nvPr/>
        </p:nvSpPr>
        <p:spPr>
          <a:xfrm>
            <a:off x="7543800" y="2011680"/>
            <a:ext cx="3200400" cy="640080"/>
          </a:xfrm>
          <a:prstGeom prst="rect">
            <a:avLst/>
          </a:prstGeom>
          <a:noFill/>
          <a:ln/>
        </p:spPr>
        <p:txBody>
          <a:bodyPr wrap="square" lIns="0" tIns="0" rIns="0" bIns="0" rtlCol="0" anchor="ctr"/>
          <a:lstStyle/>
          <a:p>
            <a:pPr indent="0" marL="0">
              <a:buNone/>
            </a:pPr>
            <a:r>
              <a:rPr lang="en-US" sz="2400" b="1" dirty="0">
                <a:solidFill>
                  <a:schemeClr val="bg1"/>
                </a:solidFill>
                <a:latin typeface="Cambria" pitchFamily="34" charset="0"/>
                <a:ea typeface="Cambria" pitchFamily="34" charset="-122"/>
                <a:cs typeface="Cambria" pitchFamily="34" charset="-120"/>
              </a:rPr>
              <a:t>Next steps</a:t>
            </a:r>
            <a:endParaRPr lang="en-US" sz="2400" dirty="0"/>
          </a:p>
        </p:txBody>
      </p:sp>
      <p:sp>
        <p:nvSpPr>
          <p:cNvPr id="12" name="Text 8"/>
          <p:cNvSpPr txBox="1"/>
          <p:nvPr/>
        </p:nvSpPr>
        <p:spPr>
          <a:xfrm>
            <a:off x="6629400" y="2926080"/>
            <a:ext cx="4480560" cy="21031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bg1"/>
                </a:solidFill>
              </a:rPr>
              <a:t>Validate on real, consented patient logs.</a:t>
            </a:r>
            <a:endParaRPr lang="en-US" sz="1800" dirty="0"/>
          </a:p>
          <a:p>
            <a:pPr marL="342900" indent="-342900">
              <a:spcAft>
                <a:spcPts val="1000"/>
              </a:spcAft>
              <a:buSzPct val="100000"/>
              <a:buChar char="•"/>
            </a:pPr>
            <a:r>
              <a:rPr lang="en-US" sz="1800" dirty="0">
                <a:solidFill>
                  <a:schemeClr val="bg1"/>
                </a:solidFill>
              </a:rPr>
              <a:t>Review forecasts and triggers with clinicians.</a:t>
            </a:r>
            <a:endParaRPr lang="en-US" sz="1800" dirty="0"/>
          </a:p>
          <a:p>
            <a:pPr marL="342900" indent="-342900">
              <a:spcAft>
                <a:spcPts val="1000"/>
              </a:spcAft>
              <a:buSzPct val="100000"/>
              <a:buChar char="•"/>
            </a:pPr>
            <a:r>
              <a:rPr lang="en-US" sz="1800" dirty="0">
                <a:solidFill>
                  <a:schemeClr val="bg1"/>
                </a:solidFill>
              </a:rPr>
              <a:t>Calibrate risk per patient.</a:t>
            </a:r>
            <a:endParaRPr lang="en-US" sz="1800" dirty="0"/>
          </a:p>
        </p:txBody>
      </p:sp>
    </p:spTree>
  </p:cSld>
  <p:clrMapOvr>
    <a:masterClrMapping/>
  </p:clrMapOvr>
</p:sld>
</file>

<file path=ppt/theme/theme1.xml><?xml version="1.0" encoding="utf-8"?>
<a:theme xmlns:a="http://schemas.openxmlformats.org/drawingml/2006/main" name="FlareGuard">
  <a:themeElements>
    <a:clrScheme name="FlareGuard">
      <a:dk1>
        <a:srgbClr val="12303A"/>
      </a:dk1>
      <a:lt1>
        <a:srgbClr val="FFFFFF"/>
      </a:lt1>
      <a:dk2>
        <a:srgbClr val="0B4F57"/>
      </a:dk2>
      <a:lt2>
        <a:srgbClr val="EAF3F2"/>
      </a:lt2>
      <a:accent1>
        <a:srgbClr val="0F766E"/>
      </a:accent1>
      <a:accent2>
        <a:srgbClr val="B7791F"/>
      </a:accent2>
      <a:accent3>
        <a:srgbClr val="B42318"/>
      </a:accent3>
      <a:accent4>
        <a:srgbClr val="5FB3A8"/>
      </a:accent4>
      <a:accent5>
        <a:srgbClr val="4B6670"/>
      </a:accent5>
      <a:accent6>
        <a:srgbClr val="9FD3CB"/>
      </a:accent6>
      <a:hlink>
        <a:srgbClr val="0F766E"/>
      </a:hlink>
      <a:folHlink>
        <a:srgbClr val="4B6670"/>
      </a:folHlink>
    </a:clrScheme>
    <a:fontScheme name="FlareGuar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FlareGuard</dc:title>
  <dc:subject>PptxGenJS Presentation</dc:subject>
  <dc:creator>PptxGenJS</dc:creator>
  <cp:lastModifiedBy>PptxGenJS</cp:lastModifiedBy>
  <cp:revision>1</cp:revision>
  <dcterms:created xsi:type="dcterms:W3CDTF">2026-10-18T02:09:34Z</dcterms:created>
  <dcterms:modified xsi:type="dcterms:W3CDTF">2026-10-18T02:09:34Z</dcterms:modified>
</cp:coreProperties>
</file>